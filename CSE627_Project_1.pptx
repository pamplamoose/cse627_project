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6" r:id="rId2"/>
    <p:sldId id="265" r:id="rId3"/>
    <p:sldId id="266" r:id="rId4"/>
    <p:sldId id="267" r:id="rId5"/>
    <p:sldId id="268" r:id="rId6"/>
    <p:sldId id="269" r:id="rId7"/>
    <p:sldId id="270" r:id="rId8"/>
    <p:sldId id="271" r:id="rId9"/>
    <p:sldId id="272" r:id="rId10"/>
    <p:sldId id="273" r:id="rId11"/>
    <p:sldId id="274" r:id="rId12"/>
    <p:sldId id="275" r:id="rId13"/>
    <p:sldId id="276" r:id="rId14"/>
    <p:sldId id="277" r:id="rId15"/>
    <p:sldId id="278" r:id="rId16"/>
    <p:sldId id="289" r:id="rId17"/>
    <p:sldId id="288" r:id="rId18"/>
    <p:sldId id="290" r:id="rId19"/>
    <p:sldId id="291" r:id="rId20"/>
    <p:sldId id="292" r:id="rId21"/>
    <p:sldId id="286" r:id="rId22"/>
    <p:sldId id="279" r:id="rId23"/>
    <p:sldId id="280" r:id="rId24"/>
    <p:sldId id="281" r:id="rId25"/>
    <p:sldId id="282" r:id="rId26"/>
    <p:sldId id="283" r:id="rId27"/>
    <p:sldId id="284" r:id="rId28"/>
    <p:sldId id="285" r:id="rId29"/>
    <p:sldId id="287" r:id="rId30"/>
    <p:sldId id="262" r:id="rId31"/>
    <p:sldId id="293" r:id="rId32"/>
    <p:sldId id="294" r:id="rId33"/>
    <p:sldId id="295" r:id="rId34"/>
    <p:sldId id="296" r:id="rId35"/>
    <p:sldId id="297" r:id="rId36"/>
    <p:sldId id="298" r:id="rId37"/>
    <p:sldId id="299" r:id="rId38"/>
    <p:sldId id="300" r:id="rId39"/>
    <p:sldId id="301"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6" d="100"/>
          <a:sy n="146" d="100"/>
        </p:scale>
        <p:origin x="2166" y="3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90A598-5D52-471B-A171-A57436E02CE0}" type="datetimeFigureOut">
              <a:rPr lang="en-GB" smtClean="0"/>
              <a:t>01/05/2025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3C992F-1AEA-4EE9-8527-A7C152470ECE}" type="slidenum">
              <a:rPr lang="en-GB" smtClean="0"/>
              <a:t>‹#›</a:t>
            </a:fld>
            <a:endParaRPr lang="en-GB"/>
          </a:p>
        </p:txBody>
      </p:sp>
    </p:spTree>
    <p:extLst>
      <p:ext uri="{BB962C8B-B14F-4D97-AF65-F5344CB8AC3E}">
        <p14:creationId xmlns:p14="http://schemas.microsoft.com/office/powerpoint/2010/main" val="32853824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13C992F-1AEA-4EE9-8527-A7C152470ECE}" type="slidenum">
              <a:rPr lang="en-GB" smtClean="0"/>
              <a:t>33</a:t>
            </a:fld>
            <a:endParaRPr lang="en-GB"/>
          </a:p>
        </p:txBody>
      </p:sp>
    </p:spTree>
    <p:extLst>
      <p:ext uri="{BB962C8B-B14F-4D97-AF65-F5344CB8AC3E}">
        <p14:creationId xmlns:p14="http://schemas.microsoft.com/office/powerpoint/2010/main" val="42927225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74736-3C90-3692-F6C0-A3C7316CBE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E70D35AA-E0FA-0EBE-D525-9381ECF4B9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5EFF90D5-F4F6-F561-A154-0609E1C794F7}"/>
              </a:ext>
            </a:extLst>
          </p:cNvPr>
          <p:cNvSpPr>
            <a:spLocks noGrp="1"/>
          </p:cNvSpPr>
          <p:nvPr>
            <p:ph type="dt" sz="half" idx="10"/>
          </p:nvPr>
        </p:nvSpPr>
        <p:spPr/>
        <p:txBody>
          <a:bodyPr/>
          <a:lstStyle/>
          <a:p>
            <a:fld id="{774347AE-F0F1-4F07-B6AE-A916E12DEA5C}" type="datetimeFigureOut">
              <a:rPr lang="en-GB" smtClean="0"/>
              <a:t>01/05/2025</a:t>
            </a:fld>
            <a:endParaRPr lang="en-GB"/>
          </a:p>
        </p:txBody>
      </p:sp>
      <p:sp>
        <p:nvSpPr>
          <p:cNvPr id="5" name="Footer Placeholder 4">
            <a:extLst>
              <a:ext uri="{FF2B5EF4-FFF2-40B4-BE49-F238E27FC236}">
                <a16:creationId xmlns:a16="http://schemas.microsoft.com/office/drawing/2014/main" id="{102E8AE0-1EBA-DEB3-E0C3-A4C4812AF49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EA52174-962C-DD75-9F55-F89CCC06BCF8}"/>
              </a:ext>
            </a:extLst>
          </p:cNvPr>
          <p:cNvSpPr>
            <a:spLocks noGrp="1"/>
          </p:cNvSpPr>
          <p:nvPr>
            <p:ph type="sldNum" sz="quarter" idx="12"/>
          </p:nvPr>
        </p:nvSpPr>
        <p:spPr/>
        <p:txBody>
          <a:bodyPr/>
          <a:lstStyle/>
          <a:p>
            <a:fld id="{B9CA1BFA-7601-4502-910D-75D39D9AE246}" type="slidenum">
              <a:rPr lang="en-GB" smtClean="0"/>
              <a:t>‹#›</a:t>
            </a:fld>
            <a:endParaRPr lang="en-GB"/>
          </a:p>
        </p:txBody>
      </p:sp>
    </p:spTree>
    <p:extLst>
      <p:ext uri="{BB962C8B-B14F-4D97-AF65-F5344CB8AC3E}">
        <p14:creationId xmlns:p14="http://schemas.microsoft.com/office/powerpoint/2010/main" val="25256188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7E79E-1003-4C48-F05B-A7AF36652A9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9E7BFFE-8AF1-C78F-7005-6121675A87C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53A1A44-2191-ECBF-613A-9CD57F0EB7EE}"/>
              </a:ext>
            </a:extLst>
          </p:cNvPr>
          <p:cNvSpPr>
            <a:spLocks noGrp="1"/>
          </p:cNvSpPr>
          <p:nvPr>
            <p:ph type="dt" sz="half" idx="10"/>
          </p:nvPr>
        </p:nvSpPr>
        <p:spPr/>
        <p:txBody>
          <a:bodyPr/>
          <a:lstStyle/>
          <a:p>
            <a:fld id="{774347AE-F0F1-4F07-B6AE-A916E12DEA5C}" type="datetimeFigureOut">
              <a:rPr lang="en-GB" smtClean="0"/>
              <a:t>01/05/2025</a:t>
            </a:fld>
            <a:endParaRPr lang="en-GB"/>
          </a:p>
        </p:txBody>
      </p:sp>
      <p:sp>
        <p:nvSpPr>
          <p:cNvPr id="5" name="Footer Placeholder 4">
            <a:extLst>
              <a:ext uri="{FF2B5EF4-FFF2-40B4-BE49-F238E27FC236}">
                <a16:creationId xmlns:a16="http://schemas.microsoft.com/office/drawing/2014/main" id="{77DD85BD-8BEF-564E-CD1C-B6A98D75D6C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0577584-FB44-3C5C-0534-293F9622C8E6}"/>
              </a:ext>
            </a:extLst>
          </p:cNvPr>
          <p:cNvSpPr>
            <a:spLocks noGrp="1"/>
          </p:cNvSpPr>
          <p:nvPr>
            <p:ph type="sldNum" sz="quarter" idx="12"/>
          </p:nvPr>
        </p:nvSpPr>
        <p:spPr/>
        <p:txBody>
          <a:bodyPr/>
          <a:lstStyle/>
          <a:p>
            <a:fld id="{B9CA1BFA-7601-4502-910D-75D39D9AE246}" type="slidenum">
              <a:rPr lang="en-GB" smtClean="0"/>
              <a:t>‹#›</a:t>
            </a:fld>
            <a:endParaRPr lang="en-GB"/>
          </a:p>
        </p:txBody>
      </p:sp>
    </p:spTree>
    <p:extLst>
      <p:ext uri="{BB962C8B-B14F-4D97-AF65-F5344CB8AC3E}">
        <p14:creationId xmlns:p14="http://schemas.microsoft.com/office/powerpoint/2010/main" val="1032548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1CF86-80E8-B54D-B71E-B65B895CF93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D62DC0EB-7CA5-B72A-AD4F-35711D63BD1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69BBAB3-E247-E765-03EE-E984BC1F8CEA}"/>
              </a:ext>
            </a:extLst>
          </p:cNvPr>
          <p:cNvSpPr>
            <a:spLocks noGrp="1"/>
          </p:cNvSpPr>
          <p:nvPr>
            <p:ph type="dt" sz="half" idx="10"/>
          </p:nvPr>
        </p:nvSpPr>
        <p:spPr/>
        <p:txBody>
          <a:bodyPr/>
          <a:lstStyle/>
          <a:p>
            <a:fld id="{774347AE-F0F1-4F07-B6AE-A916E12DEA5C}" type="datetimeFigureOut">
              <a:rPr lang="en-GB" smtClean="0"/>
              <a:t>01/05/2025</a:t>
            </a:fld>
            <a:endParaRPr lang="en-GB"/>
          </a:p>
        </p:txBody>
      </p:sp>
      <p:sp>
        <p:nvSpPr>
          <p:cNvPr id="5" name="Footer Placeholder 4">
            <a:extLst>
              <a:ext uri="{FF2B5EF4-FFF2-40B4-BE49-F238E27FC236}">
                <a16:creationId xmlns:a16="http://schemas.microsoft.com/office/drawing/2014/main" id="{B32C9AF7-34A5-7B13-71F3-E9DE0DADBCF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A7BA869-5837-0C94-1AE1-B0480480F25A}"/>
              </a:ext>
            </a:extLst>
          </p:cNvPr>
          <p:cNvSpPr>
            <a:spLocks noGrp="1"/>
          </p:cNvSpPr>
          <p:nvPr>
            <p:ph type="sldNum" sz="quarter" idx="12"/>
          </p:nvPr>
        </p:nvSpPr>
        <p:spPr/>
        <p:txBody>
          <a:bodyPr/>
          <a:lstStyle/>
          <a:p>
            <a:fld id="{B9CA1BFA-7601-4502-910D-75D39D9AE246}" type="slidenum">
              <a:rPr lang="en-GB" smtClean="0"/>
              <a:t>‹#›</a:t>
            </a:fld>
            <a:endParaRPr lang="en-GB"/>
          </a:p>
        </p:txBody>
      </p:sp>
    </p:spTree>
    <p:extLst>
      <p:ext uri="{BB962C8B-B14F-4D97-AF65-F5344CB8AC3E}">
        <p14:creationId xmlns:p14="http://schemas.microsoft.com/office/powerpoint/2010/main" val="517061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EAFDC-8736-47B3-6DAB-052D3BAB61E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E0552C1-CBC5-328C-33A7-504801450A1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BD574EE-BD8F-186C-AD9E-845FFD23BA6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FE94394-0FCF-BC45-125D-B17818EE0ECD}"/>
              </a:ext>
            </a:extLst>
          </p:cNvPr>
          <p:cNvSpPr>
            <a:spLocks noGrp="1"/>
          </p:cNvSpPr>
          <p:nvPr>
            <p:ph type="dt" sz="half" idx="10"/>
          </p:nvPr>
        </p:nvSpPr>
        <p:spPr/>
        <p:txBody>
          <a:bodyPr/>
          <a:lstStyle/>
          <a:p>
            <a:fld id="{774347AE-F0F1-4F07-B6AE-A916E12DEA5C}" type="datetimeFigureOut">
              <a:rPr lang="en-GB" smtClean="0"/>
              <a:t>01/05/2025</a:t>
            </a:fld>
            <a:endParaRPr lang="en-GB"/>
          </a:p>
        </p:txBody>
      </p:sp>
      <p:sp>
        <p:nvSpPr>
          <p:cNvPr id="6" name="Footer Placeholder 5">
            <a:extLst>
              <a:ext uri="{FF2B5EF4-FFF2-40B4-BE49-F238E27FC236}">
                <a16:creationId xmlns:a16="http://schemas.microsoft.com/office/drawing/2014/main" id="{A0A3D0F3-AE1C-7FFA-2AD6-CE2FE16D2F9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6CF11CC-5497-6313-DE2D-E6F3A642B126}"/>
              </a:ext>
            </a:extLst>
          </p:cNvPr>
          <p:cNvSpPr>
            <a:spLocks noGrp="1"/>
          </p:cNvSpPr>
          <p:nvPr>
            <p:ph type="sldNum" sz="quarter" idx="12"/>
          </p:nvPr>
        </p:nvSpPr>
        <p:spPr/>
        <p:txBody>
          <a:bodyPr/>
          <a:lstStyle/>
          <a:p>
            <a:fld id="{B9CA1BFA-7601-4502-910D-75D39D9AE246}" type="slidenum">
              <a:rPr lang="en-GB" smtClean="0"/>
              <a:t>‹#›</a:t>
            </a:fld>
            <a:endParaRPr lang="en-GB"/>
          </a:p>
        </p:txBody>
      </p:sp>
    </p:spTree>
    <p:extLst>
      <p:ext uri="{BB962C8B-B14F-4D97-AF65-F5344CB8AC3E}">
        <p14:creationId xmlns:p14="http://schemas.microsoft.com/office/powerpoint/2010/main" val="7884055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D79E2-BFF4-F2B1-6817-AE40F2784C64}"/>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737DB35-B45D-AF90-CC98-F7E44B2978A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A5AFDDB-4E93-22E5-717D-D530EE334F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A4CD124-1644-3F4F-2072-336FBD7536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5004402-5E50-076E-EEA1-B7184B154B1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3C0954E6-7669-3EF2-7887-BD7093EBF0DC}"/>
              </a:ext>
            </a:extLst>
          </p:cNvPr>
          <p:cNvSpPr>
            <a:spLocks noGrp="1"/>
          </p:cNvSpPr>
          <p:nvPr>
            <p:ph type="dt" sz="half" idx="10"/>
          </p:nvPr>
        </p:nvSpPr>
        <p:spPr/>
        <p:txBody>
          <a:bodyPr/>
          <a:lstStyle/>
          <a:p>
            <a:fld id="{774347AE-F0F1-4F07-B6AE-A916E12DEA5C}" type="datetimeFigureOut">
              <a:rPr lang="en-GB" smtClean="0"/>
              <a:t>01/05/2025</a:t>
            </a:fld>
            <a:endParaRPr lang="en-GB"/>
          </a:p>
        </p:txBody>
      </p:sp>
      <p:sp>
        <p:nvSpPr>
          <p:cNvPr id="8" name="Footer Placeholder 7">
            <a:extLst>
              <a:ext uri="{FF2B5EF4-FFF2-40B4-BE49-F238E27FC236}">
                <a16:creationId xmlns:a16="http://schemas.microsoft.com/office/drawing/2014/main" id="{947FEF62-675F-EA47-1810-A8778EBCA5CB}"/>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8B08B492-87AB-C117-7E8C-6BD540643C65}"/>
              </a:ext>
            </a:extLst>
          </p:cNvPr>
          <p:cNvSpPr>
            <a:spLocks noGrp="1"/>
          </p:cNvSpPr>
          <p:nvPr>
            <p:ph type="sldNum" sz="quarter" idx="12"/>
          </p:nvPr>
        </p:nvSpPr>
        <p:spPr/>
        <p:txBody>
          <a:bodyPr/>
          <a:lstStyle/>
          <a:p>
            <a:fld id="{B9CA1BFA-7601-4502-910D-75D39D9AE246}" type="slidenum">
              <a:rPr lang="en-GB" smtClean="0"/>
              <a:t>‹#›</a:t>
            </a:fld>
            <a:endParaRPr lang="en-GB"/>
          </a:p>
        </p:txBody>
      </p:sp>
    </p:spTree>
    <p:extLst>
      <p:ext uri="{BB962C8B-B14F-4D97-AF65-F5344CB8AC3E}">
        <p14:creationId xmlns:p14="http://schemas.microsoft.com/office/powerpoint/2010/main" val="10693012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3941A-C1B1-4025-5AA7-E0FA991C630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397DFB5D-CF5F-00AE-84FD-8B4C5BE34F6F}"/>
              </a:ext>
            </a:extLst>
          </p:cNvPr>
          <p:cNvSpPr>
            <a:spLocks noGrp="1"/>
          </p:cNvSpPr>
          <p:nvPr>
            <p:ph type="dt" sz="half" idx="10"/>
          </p:nvPr>
        </p:nvSpPr>
        <p:spPr/>
        <p:txBody>
          <a:bodyPr/>
          <a:lstStyle/>
          <a:p>
            <a:fld id="{774347AE-F0F1-4F07-B6AE-A916E12DEA5C}" type="datetimeFigureOut">
              <a:rPr lang="en-GB" smtClean="0"/>
              <a:t>01/05/2025</a:t>
            </a:fld>
            <a:endParaRPr lang="en-GB"/>
          </a:p>
        </p:txBody>
      </p:sp>
      <p:sp>
        <p:nvSpPr>
          <p:cNvPr id="4" name="Footer Placeholder 3">
            <a:extLst>
              <a:ext uri="{FF2B5EF4-FFF2-40B4-BE49-F238E27FC236}">
                <a16:creationId xmlns:a16="http://schemas.microsoft.com/office/drawing/2014/main" id="{96A2ECA9-3F0A-93BD-AC89-97137820657B}"/>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886A28FC-5457-85C4-400A-FC32C15C0B02}"/>
              </a:ext>
            </a:extLst>
          </p:cNvPr>
          <p:cNvSpPr>
            <a:spLocks noGrp="1"/>
          </p:cNvSpPr>
          <p:nvPr>
            <p:ph type="sldNum" sz="quarter" idx="12"/>
          </p:nvPr>
        </p:nvSpPr>
        <p:spPr/>
        <p:txBody>
          <a:bodyPr/>
          <a:lstStyle/>
          <a:p>
            <a:fld id="{B9CA1BFA-7601-4502-910D-75D39D9AE246}" type="slidenum">
              <a:rPr lang="en-GB" smtClean="0"/>
              <a:t>‹#›</a:t>
            </a:fld>
            <a:endParaRPr lang="en-GB"/>
          </a:p>
        </p:txBody>
      </p:sp>
    </p:spTree>
    <p:extLst>
      <p:ext uri="{BB962C8B-B14F-4D97-AF65-F5344CB8AC3E}">
        <p14:creationId xmlns:p14="http://schemas.microsoft.com/office/powerpoint/2010/main" val="41173882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0D96D8A-735B-DF01-FCF5-AE83D7DDA32D}"/>
              </a:ext>
            </a:extLst>
          </p:cNvPr>
          <p:cNvSpPr>
            <a:spLocks noGrp="1"/>
          </p:cNvSpPr>
          <p:nvPr>
            <p:ph type="dt" sz="half" idx="10"/>
          </p:nvPr>
        </p:nvSpPr>
        <p:spPr/>
        <p:txBody>
          <a:bodyPr/>
          <a:lstStyle/>
          <a:p>
            <a:fld id="{774347AE-F0F1-4F07-B6AE-A916E12DEA5C}" type="datetimeFigureOut">
              <a:rPr lang="en-GB" smtClean="0"/>
              <a:t>01/05/2025</a:t>
            </a:fld>
            <a:endParaRPr lang="en-GB"/>
          </a:p>
        </p:txBody>
      </p:sp>
      <p:sp>
        <p:nvSpPr>
          <p:cNvPr id="3" name="Footer Placeholder 2">
            <a:extLst>
              <a:ext uri="{FF2B5EF4-FFF2-40B4-BE49-F238E27FC236}">
                <a16:creationId xmlns:a16="http://schemas.microsoft.com/office/drawing/2014/main" id="{267A793B-F879-BF7D-556C-D8C1BC7DB254}"/>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C54A43C9-E7B3-3B79-3C00-EB89121697F0}"/>
              </a:ext>
            </a:extLst>
          </p:cNvPr>
          <p:cNvSpPr>
            <a:spLocks noGrp="1"/>
          </p:cNvSpPr>
          <p:nvPr>
            <p:ph type="sldNum" sz="quarter" idx="12"/>
          </p:nvPr>
        </p:nvSpPr>
        <p:spPr/>
        <p:txBody>
          <a:bodyPr/>
          <a:lstStyle/>
          <a:p>
            <a:fld id="{B9CA1BFA-7601-4502-910D-75D39D9AE246}" type="slidenum">
              <a:rPr lang="en-GB" smtClean="0"/>
              <a:t>‹#›</a:t>
            </a:fld>
            <a:endParaRPr lang="en-GB"/>
          </a:p>
        </p:txBody>
      </p:sp>
    </p:spTree>
    <p:extLst>
      <p:ext uri="{BB962C8B-B14F-4D97-AF65-F5344CB8AC3E}">
        <p14:creationId xmlns:p14="http://schemas.microsoft.com/office/powerpoint/2010/main" val="14497441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EEC15-2EF9-1BA8-F0BC-114AFFF09C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CA792B6-8D3B-2F09-39A1-4879601538D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4AE56D6-0CFD-64B9-72E9-DF218AC871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C483F5-BA10-061E-F626-AD22C6A81AAA}"/>
              </a:ext>
            </a:extLst>
          </p:cNvPr>
          <p:cNvSpPr>
            <a:spLocks noGrp="1"/>
          </p:cNvSpPr>
          <p:nvPr>
            <p:ph type="dt" sz="half" idx="10"/>
          </p:nvPr>
        </p:nvSpPr>
        <p:spPr/>
        <p:txBody>
          <a:bodyPr/>
          <a:lstStyle/>
          <a:p>
            <a:fld id="{774347AE-F0F1-4F07-B6AE-A916E12DEA5C}" type="datetimeFigureOut">
              <a:rPr lang="en-GB" smtClean="0"/>
              <a:t>01/05/2025</a:t>
            </a:fld>
            <a:endParaRPr lang="en-GB"/>
          </a:p>
        </p:txBody>
      </p:sp>
      <p:sp>
        <p:nvSpPr>
          <p:cNvPr id="6" name="Footer Placeholder 5">
            <a:extLst>
              <a:ext uri="{FF2B5EF4-FFF2-40B4-BE49-F238E27FC236}">
                <a16:creationId xmlns:a16="http://schemas.microsoft.com/office/drawing/2014/main" id="{CACC7C11-CD73-3B64-924A-F72C11C86F6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E8422AF-94B6-D688-ABAD-C1EA0885D32E}"/>
              </a:ext>
            </a:extLst>
          </p:cNvPr>
          <p:cNvSpPr>
            <a:spLocks noGrp="1"/>
          </p:cNvSpPr>
          <p:nvPr>
            <p:ph type="sldNum" sz="quarter" idx="12"/>
          </p:nvPr>
        </p:nvSpPr>
        <p:spPr/>
        <p:txBody>
          <a:bodyPr/>
          <a:lstStyle/>
          <a:p>
            <a:fld id="{B9CA1BFA-7601-4502-910D-75D39D9AE246}" type="slidenum">
              <a:rPr lang="en-GB" smtClean="0"/>
              <a:t>‹#›</a:t>
            </a:fld>
            <a:endParaRPr lang="en-GB"/>
          </a:p>
        </p:txBody>
      </p:sp>
    </p:spTree>
    <p:extLst>
      <p:ext uri="{BB962C8B-B14F-4D97-AF65-F5344CB8AC3E}">
        <p14:creationId xmlns:p14="http://schemas.microsoft.com/office/powerpoint/2010/main" val="32550203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DE288-FA8F-5A75-276F-6C0D7F1A6F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2D0E876A-1CDF-5BC2-0144-18BD92A98B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48D852AF-9CD8-41DF-B445-EFEAF94558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81AFEC-0088-71B2-A077-9E0EFA0D476B}"/>
              </a:ext>
            </a:extLst>
          </p:cNvPr>
          <p:cNvSpPr>
            <a:spLocks noGrp="1"/>
          </p:cNvSpPr>
          <p:nvPr>
            <p:ph type="dt" sz="half" idx="10"/>
          </p:nvPr>
        </p:nvSpPr>
        <p:spPr/>
        <p:txBody>
          <a:bodyPr/>
          <a:lstStyle/>
          <a:p>
            <a:fld id="{774347AE-F0F1-4F07-B6AE-A916E12DEA5C}" type="datetimeFigureOut">
              <a:rPr lang="en-GB" smtClean="0"/>
              <a:t>01/05/2025</a:t>
            </a:fld>
            <a:endParaRPr lang="en-GB"/>
          </a:p>
        </p:txBody>
      </p:sp>
      <p:sp>
        <p:nvSpPr>
          <p:cNvPr id="6" name="Footer Placeholder 5">
            <a:extLst>
              <a:ext uri="{FF2B5EF4-FFF2-40B4-BE49-F238E27FC236}">
                <a16:creationId xmlns:a16="http://schemas.microsoft.com/office/drawing/2014/main" id="{29AFE4DB-895B-A4C4-63CC-3E6C9AD544C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C21203C-4011-7CBE-19E8-7B1CF58E501E}"/>
              </a:ext>
            </a:extLst>
          </p:cNvPr>
          <p:cNvSpPr>
            <a:spLocks noGrp="1"/>
          </p:cNvSpPr>
          <p:nvPr>
            <p:ph type="sldNum" sz="quarter" idx="12"/>
          </p:nvPr>
        </p:nvSpPr>
        <p:spPr/>
        <p:txBody>
          <a:bodyPr/>
          <a:lstStyle/>
          <a:p>
            <a:fld id="{B9CA1BFA-7601-4502-910D-75D39D9AE246}" type="slidenum">
              <a:rPr lang="en-GB" smtClean="0"/>
              <a:t>‹#›</a:t>
            </a:fld>
            <a:endParaRPr lang="en-GB"/>
          </a:p>
        </p:txBody>
      </p:sp>
    </p:spTree>
    <p:extLst>
      <p:ext uri="{BB962C8B-B14F-4D97-AF65-F5344CB8AC3E}">
        <p14:creationId xmlns:p14="http://schemas.microsoft.com/office/powerpoint/2010/main" val="38653990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310A8-D92D-1789-BB02-D39F342752F7}"/>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5EA05A8-EC4E-E3EB-476C-F5A171E526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D1CD609-520A-B297-7BA3-0915EF763572}"/>
              </a:ext>
            </a:extLst>
          </p:cNvPr>
          <p:cNvSpPr>
            <a:spLocks noGrp="1"/>
          </p:cNvSpPr>
          <p:nvPr>
            <p:ph type="dt" sz="half" idx="10"/>
          </p:nvPr>
        </p:nvSpPr>
        <p:spPr/>
        <p:txBody>
          <a:bodyPr/>
          <a:lstStyle/>
          <a:p>
            <a:fld id="{774347AE-F0F1-4F07-B6AE-A916E12DEA5C}" type="datetimeFigureOut">
              <a:rPr lang="en-GB" smtClean="0"/>
              <a:t>01/05/2025</a:t>
            </a:fld>
            <a:endParaRPr lang="en-GB"/>
          </a:p>
        </p:txBody>
      </p:sp>
      <p:sp>
        <p:nvSpPr>
          <p:cNvPr id="5" name="Footer Placeholder 4">
            <a:extLst>
              <a:ext uri="{FF2B5EF4-FFF2-40B4-BE49-F238E27FC236}">
                <a16:creationId xmlns:a16="http://schemas.microsoft.com/office/drawing/2014/main" id="{6070E359-EF76-E2DA-D17A-DCADBF29791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C2B253D-471B-1985-DE75-5D1F7D6F5FB4}"/>
              </a:ext>
            </a:extLst>
          </p:cNvPr>
          <p:cNvSpPr>
            <a:spLocks noGrp="1"/>
          </p:cNvSpPr>
          <p:nvPr>
            <p:ph type="sldNum" sz="quarter" idx="12"/>
          </p:nvPr>
        </p:nvSpPr>
        <p:spPr/>
        <p:txBody>
          <a:bodyPr/>
          <a:lstStyle/>
          <a:p>
            <a:fld id="{B9CA1BFA-7601-4502-910D-75D39D9AE246}" type="slidenum">
              <a:rPr lang="en-GB" smtClean="0"/>
              <a:t>‹#›</a:t>
            </a:fld>
            <a:endParaRPr lang="en-GB"/>
          </a:p>
        </p:txBody>
      </p:sp>
    </p:spTree>
    <p:extLst>
      <p:ext uri="{BB962C8B-B14F-4D97-AF65-F5344CB8AC3E}">
        <p14:creationId xmlns:p14="http://schemas.microsoft.com/office/powerpoint/2010/main" val="19888302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7C6AAB-E20C-DC1E-B22D-F8BF62470D3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DF8BD1C-2E55-55E5-77B7-82F176DEF3A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833D76B-96D6-2C29-4B20-5ED0D8256DC2}"/>
              </a:ext>
            </a:extLst>
          </p:cNvPr>
          <p:cNvSpPr>
            <a:spLocks noGrp="1"/>
          </p:cNvSpPr>
          <p:nvPr>
            <p:ph type="dt" sz="half" idx="10"/>
          </p:nvPr>
        </p:nvSpPr>
        <p:spPr/>
        <p:txBody>
          <a:bodyPr/>
          <a:lstStyle/>
          <a:p>
            <a:fld id="{774347AE-F0F1-4F07-B6AE-A916E12DEA5C}" type="datetimeFigureOut">
              <a:rPr lang="en-GB" smtClean="0"/>
              <a:t>01/05/2025</a:t>
            </a:fld>
            <a:endParaRPr lang="en-GB"/>
          </a:p>
        </p:txBody>
      </p:sp>
      <p:sp>
        <p:nvSpPr>
          <p:cNvPr id="5" name="Footer Placeholder 4">
            <a:extLst>
              <a:ext uri="{FF2B5EF4-FFF2-40B4-BE49-F238E27FC236}">
                <a16:creationId xmlns:a16="http://schemas.microsoft.com/office/drawing/2014/main" id="{F9EBDBCD-EEBC-27E1-6951-F922589AD70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547ADF3-AEB1-3304-E869-A25F4AC3D6AF}"/>
              </a:ext>
            </a:extLst>
          </p:cNvPr>
          <p:cNvSpPr>
            <a:spLocks noGrp="1"/>
          </p:cNvSpPr>
          <p:nvPr>
            <p:ph type="sldNum" sz="quarter" idx="12"/>
          </p:nvPr>
        </p:nvSpPr>
        <p:spPr/>
        <p:txBody>
          <a:bodyPr/>
          <a:lstStyle/>
          <a:p>
            <a:fld id="{B9CA1BFA-7601-4502-910D-75D39D9AE246}" type="slidenum">
              <a:rPr lang="en-GB" smtClean="0"/>
              <a:t>‹#›</a:t>
            </a:fld>
            <a:endParaRPr lang="en-GB"/>
          </a:p>
        </p:txBody>
      </p:sp>
    </p:spTree>
    <p:extLst>
      <p:ext uri="{BB962C8B-B14F-4D97-AF65-F5344CB8AC3E}">
        <p14:creationId xmlns:p14="http://schemas.microsoft.com/office/powerpoint/2010/main" val="10843122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5ADC0F-F427-2D40-A406-EB35F8EE22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B9930A1-2CAE-0598-F4C0-9E8441B579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DCFBF9F-AF70-FFF0-9A42-BC4509BD2D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74347AE-F0F1-4F07-B6AE-A916E12DEA5C}" type="datetimeFigureOut">
              <a:rPr lang="en-GB" smtClean="0"/>
              <a:t>01/05/2025</a:t>
            </a:fld>
            <a:endParaRPr lang="en-GB"/>
          </a:p>
        </p:txBody>
      </p:sp>
      <p:sp>
        <p:nvSpPr>
          <p:cNvPr id="5" name="Footer Placeholder 4">
            <a:extLst>
              <a:ext uri="{FF2B5EF4-FFF2-40B4-BE49-F238E27FC236}">
                <a16:creationId xmlns:a16="http://schemas.microsoft.com/office/drawing/2014/main" id="{E56F78FA-4A3A-D8D2-4368-797BAFB4C6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0F9A5604-1000-DF07-F172-21F4274C7B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9CA1BFA-7601-4502-910D-75D39D9AE246}" type="slidenum">
              <a:rPr lang="en-GB" smtClean="0"/>
              <a:t>‹#›</a:t>
            </a:fld>
            <a:endParaRPr lang="en-GB"/>
          </a:p>
        </p:txBody>
      </p:sp>
    </p:spTree>
    <p:extLst>
      <p:ext uri="{BB962C8B-B14F-4D97-AF65-F5344CB8AC3E}">
        <p14:creationId xmlns:p14="http://schemas.microsoft.com/office/powerpoint/2010/main" val="12868851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png"/></Relationships>
</file>

<file path=ppt/slides/_rels/slide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6.png"/><Relationship Id="rId7" Type="http://schemas.openxmlformats.org/officeDocument/2006/relationships/image" Target="../media/image29.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3.png"/><Relationship Id="rId4" Type="http://schemas.openxmlformats.org/officeDocument/2006/relationships/image" Target="../media/image27.png"/><Relationship Id="rId9" Type="http://schemas.openxmlformats.org/officeDocument/2006/relationships/image" Target="../media/image31.png"/></Relationships>
</file>

<file path=ppt/slides/_rels/slide1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38.png"/><Relationship Id="rId7" Type="http://schemas.openxmlformats.org/officeDocument/2006/relationships/image" Target="../media/image25.pn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10" Type="http://schemas.openxmlformats.org/officeDocument/2006/relationships/image" Target="../media/image3.png"/><Relationship Id="rId4" Type="http://schemas.openxmlformats.org/officeDocument/2006/relationships/image" Target="../media/image39.png"/><Relationship Id="rId9"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 Id="rId5" Type="http://schemas.openxmlformats.org/officeDocument/2006/relationships/image" Target="../media/image54.png"/><Relationship Id="rId4" Type="http://schemas.openxmlformats.org/officeDocument/2006/relationships/image" Target="../media/image45.png"/></Relationships>
</file>

<file path=ppt/slides/_rels/slide3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3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61.png"/></Relationships>
</file>

<file path=ppt/slides/_rels/slide34.xml.rels><?xml version="1.0" encoding="UTF-8" standalone="yes"?>
<Relationships xmlns="http://schemas.openxmlformats.org/package/2006/relationships"><Relationship Id="rId8" Type="http://schemas.openxmlformats.org/officeDocument/2006/relationships/image" Target="../media/image68.png"/><Relationship Id="rId13" Type="http://schemas.openxmlformats.org/officeDocument/2006/relationships/image" Target="../media/image7.png"/><Relationship Id="rId3" Type="http://schemas.openxmlformats.org/officeDocument/2006/relationships/image" Target="../media/image63.png"/><Relationship Id="rId7" Type="http://schemas.openxmlformats.org/officeDocument/2006/relationships/image" Target="../media/image67.png"/><Relationship Id="rId12" Type="http://schemas.openxmlformats.org/officeDocument/2006/relationships/image" Target="../media/image3.png"/><Relationship Id="rId2" Type="http://schemas.openxmlformats.org/officeDocument/2006/relationships/image" Target="../media/image62.png"/><Relationship Id="rId1" Type="http://schemas.openxmlformats.org/officeDocument/2006/relationships/slideLayout" Target="../slideLayouts/slideLayout2.xml"/><Relationship Id="rId6" Type="http://schemas.openxmlformats.org/officeDocument/2006/relationships/image" Target="../media/image66.png"/><Relationship Id="rId11" Type="http://schemas.openxmlformats.org/officeDocument/2006/relationships/image" Target="../media/image71.png"/><Relationship Id="rId5" Type="http://schemas.openxmlformats.org/officeDocument/2006/relationships/image" Target="../media/image65.png"/><Relationship Id="rId10" Type="http://schemas.openxmlformats.org/officeDocument/2006/relationships/image" Target="../media/image70.png"/><Relationship Id="rId4" Type="http://schemas.openxmlformats.org/officeDocument/2006/relationships/image" Target="../media/image64.png"/><Relationship Id="rId9" Type="http://schemas.openxmlformats.org/officeDocument/2006/relationships/image" Target="../media/image6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image" Target="../media/image72.png"/><Relationship Id="rId1" Type="http://schemas.openxmlformats.org/officeDocument/2006/relationships/slideLayout" Target="../slideLayouts/slideLayout2.xml"/><Relationship Id="rId6" Type="http://schemas.openxmlformats.org/officeDocument/2006/relationships/image" Target="../media/image76.png"/><Relationship Id="rId11" Type="http://schemas.openxmlformats.org/officeDocument/2006/relationships/image" Target="../media/image7.png"/><Relationship Id="rId5" Type="http://schemas.openxmlformats.org/officeDocument/2006/relationships/image" Target="../media/image75.png"/><Relationship Id="rId10" Type="http://schemas.openxmlformats.org/officeDocument/2006/relationships/image" Target="../media/image3.png"/><Relationship Id="rId4" Type="http://schemas.openxmlformats.org/officeDocument/2006/relationships/image" Target="../media/image74.png"/><Relationship Id="rId9" Type="http://schemas.openxmlformats.org/officeDocument/2006/relationships/image" Target="../media/image7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AFD3B-A541-9379-0285-020E0418DECB}"/>
              </a:ext>
            </a:extLst>
          </p:cNvPr>
          <p:cNvSpPr>
            <a:spLocks noGrp="1"/>
          </p:cNvSpPr>
          <p:nvPr>
            <p:ph type="ctrTitle"/>
          </p:nvPr>
        </p:nvSpPr>
        <p:spPr/>
        <p:txBody>
          <a:bodyPr/>
          <a:lstStyle/>
          <a:p>
            <a:r>
              <a:rPr lang="en-US" altLang="zh-CN" dirty="0"/>
              <a:t>CSE627 Project</a:t>
            </a:r>
            <a:endParaRPr lang="en-GB" dirty="0"/>
          </a:p>
        </p:txBody>
      </p:sp>
      <p:sp>
        <p:nvSpPr>
          <p:cNvPr id="3" name="Subtitle 2">
            <a:extLst>
              <a:ext uri="{FF2B5EF4-FFF2-40B4-BE49-F238E27FC236}">
                <a16:creationId xmlns:a16="http://schemas.microsoft.com/office/drawing/2014/main" id="{27D04425-3CD9-3886-DEAC-F6EA7379028F}"/>
              </a:ext>
            </a:extLst>
          </p:cNvPr>
          <p:cNvSpPr>
            <a:spLocks noGrp="1"/>
          </p:cNvSpPr>
          <p:nvPr>
            <p:ph type="subTitle" idx="1"/>
          </p:nvPr>
        </p:nvSpPr>
        <p:spPr/>
        <p:txBody>
          <a:bodyPr/>
          <a:lstStyle/>
          <a:p>
            <a:r>
              <a:rPr lang="en-US" altLang="zh-CN" dirty="0"/>
              <a:t>Felix Liu</a:t>
            </a:r>
            <a:endParaRPr lang="en-GB" dirty="0"/>
          </a:p>
        </p:txBody>
      </p:sp>
    </p:spTree>
    <p:extLst>
      <p:ext uri="{BB962C8B-B14F-4D97-AF65-F5344CB8AC3E}">
        <p14:creationId xmlns:p14="http://schemas.microsoft.com/office/powerpoint/2010/main" val="3339483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2D706-E7BF-C931-540C-9891F44AB07F}"/>
              </a:ext>
            </a:extLst>
          </p:cNvPr>
          <p:cNvSpPr>
            <a:spLocks noGrp="1"/>
          </p:cNvSpPr>
          <p:nvPr>
            <p:ph type="title"/>
          </p:nvPr>
        </p:nvSpPr>
        <p:spPr/>
        <p:txBody>
          <a:bodyPr/>
          <a:lstStyle/>
          <a:p>
            <a:r>
              <a:rPr lang="en-US" dirty="0"/>
              <a:t>Final Result</a:t>
            </a:r>
            <a:endParaRPr lang="en-GB" dirty="0"/>
          </a:p>
        </p:txBody>
      </p:sp>
      <p:sp>
        <p:nvSpPr>
          <p:cNvPr id="3" name="Content Placeholder 2">
            <a:extLst>
              <a:ext uri="{FF2B5EF4-FFF2-40B4-BE49-F238E27FC236}">
                <a16:creationId xmlns:a16="http://schemas.microsoft.com/office/drawing/2014/main" id="{CC920C69-71E5-7E4A-F184-C714EBCFAAAC}"/>
              </a:ext>
            </a:extLst>
          </p:cNvPr>
          <p:cNvSpPr>
            <a:spLocks noGrp="1"/>
          </p:cNvSpPr>
          <p:nvPr>
            <p:ph idx="1"/>
          </p:nvPr>
        </p:nvSpPr>
        <p:spPr/>
        <p:txBody>
          <a:bodyPr>
            <a:normAutofit fontScale="92500" lnSpcReduction="10000"/>
          </a:bodyPr>
          <a:lstStyle/>
          <a:p>
            <a:r>
              <a:rPr lang="en-US" dirty="0"/>
              <a:t>The Algorithm uses a U-net + Iterative method (3 iterations) for training. </a:t>
            </a:r>
          </a:p>
          <a:p>
            <a:r>
              <a:rPr lang="en-US" dirty="0"/>
              <a:t>In the next few slides, qualitative and quantitative results will be displayed</a:t>
            </a:r>
          </a:p>
          <a:p>
            <a:endParaRPr lang="en-US" dirty="0"/>
          </a:p>
          <a:p>
            <a:r>
              <a:rPr lang="en-US" dirty="0"/>
              <a:t>For qualitative results, 4 selected images of its noisy inputs, soft images, predicted images and ground truth will be presented. All 500 images can be viewed in the ‘Prediction’ folder, along with their soft images. </a:t>
            </a:r>
          </a:p>
          <a:p>
            <a:pPr marL="0" indent="0">
              <a:buNone/>
            </a:pPr>
            <a:endParaRPr lang="en-US" dirty="0"/>
          </a:p>
          <a:p>
            <a:r>
              <a:rPr lang="en-GB" dirty="0"/>
              <a:t>For quantitative results, Node Precision &amp; Recall and Training loss will be presented </a:t>
            </a:r>
            <a:endParaRPr lang="en-US" dirty="0"/>
          </a:p>
        </p:txBody>
      </p:sp>
    </p:spTree>
    <p:extLst>
      <p:ext uri="{BB962C8B-B14F-4D97-AF65-F5344CB8AC3E}">
        <p14:creationId xmlns:p14="http://schemas.microsoft.com/office/powerpoint/2010/main" val="10742416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623CC-45AB-C6BC-7E42-13DF85D19F6E}"/>
              </a:ext>
            </a:extLst>
          </p:cNvPr>
          <p:cNvSpPr>
            <a:spLocks noGrp="1"/>
          </p:cNvSpPr>
          <p:nvPr>
            <p:ph type="title"/>
          </p:nvPr>
        </p:nvSpPr>
        <p:spPr/>
        <p:txBody>
          <a:bodyPr/>
          <a:lstStyle/>
          <a:p>
            <a:r>
              <a:rPr lang="en-US" dirty="0"/>
              <a:t>Final Qualitative Results                               </a:t>
            </a:r>
            <a:r>
              <a:rPr lang="en-US" sz="1800" dirty="0"/>
              <a:t>#0, 12, 24, 36</a:t>
            </a:r>
            <a:endParaRPr lang="en-GB" dirty="0"/>
          </a:p>
        </p:txBody>
      </p:sp>
      <p:pic>
        <p:nvPicPr>
          <p:cNvPr id="27" name="Content Placeholder 26" descr="A black and white image of a couple of objects&#10;&#10;AI-generated content may be incorrect.">
            <a:extLst>
              <a:ext uri="{FF2B5EF4-FFF2-40B4-BE49-F238E27FC236}">
                <a16:creationId xmlns:a16="http://schemas.microsoft.com/office/drawing/2014/main" id="{8939AF2F-1922-3B72-15CF-EAD3FEFF7FB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11104" y="1401394"/>
            <a:ext cx="2438400" cy="2438400"/>
          </a:xfrm>
        </p:spPr>
      </p:pic>
      <p:pic>
        <p:nvPicPr>
          <p:cNvPr id="31" name="Picture 30" descr="A black and white drawing of a person&#10;&#10;AI-generated content may be incorrect.">
            <a:extLst>
              <a:ext uri="{FF2B5EF4-FFF2-40B4-BE49-F238E27FC236}">
                <a16:creationId xmlns:a16="http://schemas.microsoft.com/office/drawing/2014/main" id="{39E4AA0B-85EB-2EBF-3B42-E320F5EE76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11104" y="3993523"/>
            <a:ext cx="2438400" cy="2438400"/>
          </a:xfrm>
          <a:prstGeom prst="rect">
            <a:avLst/>
          </a:prstGeom>
        </p:spPr>
      </p:pic>
      <p:pic>
        <p:nvPicPr>
          <p:cNvPr id="33" name="Picture 32" descr="A white silhouette of a plane&#10;&#10;AI-generated content may be incorrect.">
            <a:extLst>
              <a:ext uri="{FF2B5EF4-FFF2-40B4-BE49-F238E27FC236}">
                <a16:creationId xmlns:a16="http://schemas.microsoft.com/office/drawing/2014/main" id="{5D941ADF-3281-EB87-B138-AA5D86DEC3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1014" y="1401394"/>
            <a:ext cx="2438400" cy="2438400"/>
          </a:xfrm>
          <a:prstGeom prst="rect">
            <a:avLst/>
          </a:prstGeom>
        </p:spPr>
      </p:pic>
      <p:pic>
        <p:nvPicPr>
          <p:cNvPr id="37" name="Picture 36" descr="A black and white drawing of a person&#10;&#10;AI-generated content may be incorrect.">
            <a:extLst>
              <a:ext uri="{FF2B5EF4-FFF2-40B4-BE49-F238E27FC236}">
                <a16:creationId xmlns:a16="http://schemas.microsoft.com/office/drawing/2014/main" id="{32AE336D-6431-2C17-1E81-F61B8695E83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1014" y="3993523"/>
            <a:ext cx="2438400" cy="2438400"/>
          </a:xfrm>
          <a:prstGeom prst="rect">
            <a:avLst/>
          </a:prstGeom>
        </p:spPr>
      </p:pic>
      <p:pic>
        <p:nvPicPr>
          <p:cNvPr id="39" name="Picture 38" descr="A black and white image of a ladder&#10;&#10;AI-generated content may be incorrect.">
            <a:extLst>
              <a:ext uri="{FF2B5EF4-FFF2-40B4-BE49-F238E27FC236}">
                <a16:creationId xmlns:a16="http://schemas.microsoft.com/office/drawing/2014/main" id="{57C5EBA6-DABE-415C-FF26-475A85E7711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42498" y="1401394"/>
            <a:ext cx="2438400" cy="2438400"/>
          </a:xfrm>
          <a:prstGeom prst="rect">
            <a:avLst/>
          </a:prstGeom>
        </p:spPr>
      </p:pic>
      <p:pic>
        <p:nvPicPr>
          <p:cNvPr id="41" name="Picture 40" descr="A drawing of a person&#10;&#10;AI-generated content may be incorrect.">
            <a:extLst>
              <a:ext uri="{FF2B5EF4-FFF2-40B4-BE49-F238E27FC236}">
                <a16:creationId xmlns:a16="http://schemas.microsoft.com/office/drawing/2014/main" id="{4570346A-C77A-BD7C-D993-171F63E54C4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42498" y="3993523"/>
            <a:ext cx="2438400" cy="2438400"/>
          </a:xfrm>
          <a:prstGeom prst="rect">
            <a:avLst/>
          </a:prstGeom>
        </p:spPr>
      </p:pic>
      <p:pic>
        <p:nvPicPr>
          <p:cNvPr id="43" name="Picture 42" descr="A map of a runway&#10;&#10;AI-generated content may be incorrect.">
            <a:extLst>
              <a:ext uri="{FF2B5EF4-FFF2-40B4-BE49-F238E27FC236}">
                <a16:creationId xmlns:a16="http://schemas.microsoft.com/office/drawing/2014/main" id="{9D750710-C2C3-A81E-AC79-8DACBD0B793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061897" y="1401394"/>
            <a:ext cx="2438400" cy="2438400"/>
          </a:xfrm>
          <a:prstGeom prst="rect">
            <a:avLst/>
          </a:prstGeom>
        </p:spPr>
      </p:pic>
      <p:pic>
        <p:nvPicPr>
          <p:cNvPr id="45" name="Picture 44" descr="A black and white image of a person&#10;&#10;AI-generated content may be incorrect.">
            <a:extLst>
              <a:ext uri="{FF2B5EF4-FFF2-40B4-BE49-F238E27FC236}">
                <a16:creationId xmlns:a16="http://schemas.microsoft.com/office/drawing/2014/main" id="{CC9F33FD-3E44-5F9E-B21B-8DC55069227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061897" y="3993523"/>
            <a:ext cx="2438400" cy="2438400"/>
          </a:xfrm>
          <a:prstGeom prst="rect">
            <a:avLst/>
          </a:prstGeom>
        </p:spPr>
      </p:pic>
      <p:sp>
        <p:nvSpPr>
          <p:cNvPr id="46" name="TextBox 45">
            <a:extLst>
              <a:ext uri="{FF2B5EF4-FFF2-40B4-BE49-F238E27FC236}">
                <a16:creationId xmlns:a16="http://schemas.microsoft.com/office/drawing/2014/main" id="{B17E2FA4-D2E5-2259-8A8F-1B4CA777D167}"/>
              </a:ext>
            </a:extLst>
          </p:cNvPr>
          <p:cNvSpPr txBox="1"/>
          <p:nvPr/>
        </p:nvSpPr>
        <p:spPr>
          <a:xfrm>
            <a:off x="1262130" y="6431923"/>
            <a:ext cx="1667815" cy="369332"/>
          </a:xfrm>
          <a:prstGeom prst="rect">
            <a:avLst/>
          </a:prstGeom>
          <a:noFill/>
        </p:spPr>
        <p:txBody>
          <a:bodyPr wrap="square" rtlCol="0">
            <a:spAutoFit/>
          </a:bodyPr>
          <a:lstStyle/>
          <a:p>
            <a:r>
              <a:rPr lang="en-US" dirty="0"/>
              <a:t>Noisy Input</a:t>
            </a:r>
            <a:endParaRPr lang="en-GB" dirty="0"/>
          </a:p>
        </p:txBody>
      </p:sp>
      <p:sp>
        <p:nvSpPr>
          <p:cNvPr id="47" name="TextBox 46">
            <a:extLst>
              <a:ext uri="{FF2B5EF4-FFF2-40B4-BE49-F238E27FC236}">
                <a16:creationId xmlns:a16="http://schemas.microsoft.com/office/drawing/2014/main" id="{94925FF4-2E2C-9C43-8A54-F8010E129F66}"/>
              </a:ext>
            </a:extLst>
          </p:cNvPr>
          <p:cNvSpPr txBox="1"/>
          <p:nvPr/>
        </p:nvSpPr>
        <p:spPr>
          <a:xfrm>
            <a:off x="3843811" y="6472483"/>
            <a:ext cx="1946855" cy="369332"/>
          </a:xfrm>
          <a:prstGeom prst="rect">
            <a:avLst/>
          </a:prstGeom>
          <a:noFill/>
        </p:spPr>
        <p:txBody>
          <a:bodyPr wrap="square" rtlCol="0">
            <a:spAutoFit/>
          </a:bodyPr>
          <a:lstStyle/>
          <a:p>
            <a:r>
              <a:rPr lang="en-US" dirty="0"/>
              <a:t>Model Prediction</a:t>
            </a:r>
            <a:endParaRPr lang="en-GB" dirty="0"/>
          </a:p>
        </p:txBody>
      </p:sp>
      <p:sp>
        <p:nvSpPr>
          <p:cNvPr id="48" name="TextBox 47">
            <a:extLst>
              <a:ext uri="{FF2B5EF4-FFF2-40B4-BE49-F238E27FC236}">
                <a16:creationId xmlns:a16="http://schemas.microsoft.com/office/drawing/2014/main" id="{FB495B19-B947-A17C-BF77-4933ABE8F15E}"/>
              </a:ext>
            </a:extLst>
          </p:cNvPr>
          <p:cNvSpPr txBox="1"/>
          <p:nvPr/>
        </p:nvSpPr>
        <p:spPr>
          <a:xfrm>
            <a:off x="6242498" y="6472483"/>
            <a:ext cx="2732467" cy="369332"/>
          </a:xfrm>
          <a:prstGeom prst="rect">
            <a:avLst/>
          </a:prstGeom>
          <a:noFill/>
        </p:spPr>
        <p:txBody>
          <a:bodyPr wrap="square" rtlCol="0">
            <a:spAutoFit/>
          </a:bodyPr>
          <a:lstStyle/>
          <a:p>
            <a:r>
              <a:rPr lang="en-US" dirty="0"/>
              <a:t>Intermediate soft image</a:t>
            </a:r>
            <a:endParaRPr lang="en-GB" dirty="0"/>
          </a:p>
        </p:txBody>
      </p:sp>
      <p:sp>
        <p:nvSpPr>
          <p:cNvPr id="49" name="TextBox 48">
            <a:extLst>
              <a:ext uri="{FF2B5EF4-FFF2-40B4-BE49-F238E27FC236}">
                <a16:creationId xmlns:a16="http://schemas.microsoft.com/office/drawing/2014/main" id="{1DACE66C-D389-5A18-3411-6D0D7D55004B}"/>
              </a:ext>
            </a:extLst>
          </p:cNvPr>
          <p:cNvSpPr txBox="1"/>
          <p:nvPr/>
        </p:nvSpPr>
        <p:spPr>
          <a:xfrm>
            <a:off x="9547539" y="6436471"/>
            <a:ext cx="1667815" cy="369332"/>
          </a:xfrm>
          <a:prstGeom prst="rect">
            <a:avLst/>
          </a:prstGeom>
          <a:noFill/>
        </p:spPr>
        <p:txBody>
          <a:bodyPr wrap="square" rtlCol="0">
            <a:spAutoFit/>
          </a:bodyPr>
          <a:lstStyle/>
          <a:p>
            <a:r>
              <a:rPr lang="en-US" dirty="0"/>
              <a:t>Ground truth</a:t>
            </a:r>
            <a:endParaRPr lang="en-GB" dirty="0"/>
          </a:p>
        </p:txBody>
      </p:sp>
    </p:spTree>
    <p:extLst>
      <p:ext uri="{BB962C8B-B14F-4D97-AF65-F5344CB8AC3E}">
        <p14:creationId xmlns:p14="http://schemas.microsoft.com/office/powerpoint/2010/main" val="38330614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1D294-596E-ED98-46B6-2A3BFE66C0A4}"/>
              </a:ext>
            </a:extLst>
          </p:cNvPr>
          <p:cNvSpPr>
            <a:spLocks noGrp="1"/>
          </p:cNvSpPr>
          <p:nvPr>
            <p:ph type="title"/>
          </p:nvPr>
        </p:nvSpPr>
        <p:spPr/>
        <p:txBody>
          <a:bodyPr/>
          <a:lstStyle/>
          <a:p>
            <a:r>
              <a:rPr lang="en-US" dirty="0"/>
              <a:t>Final Qualitative Results</a:t>
            </a:r>
            <a:endParaRPr lang="en-GB" dirty="0"/>
          </a:p>
        </p:txBody>
      </p:sp>
      <p:pic>
        <p:nvPicPr>
          <p:cNvPr id="5" name="Content Placeholder 4" descr="A white line on a black background&#10;&#10;AI-generated content may be incorrect.">
            <a:extLst>
              <a:ext uri="{FF2B5EF4-FFF2-40B4-BE49-F238E27FC236}">
                <a16:creationId xmlns:a16="http://schemas.microsoft.com/office/drawing/2014/main" id="{C6F7C677-85CB-4AE9-0275-A6192C1F211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01980" y="1340644"/>
            <a:ext cx="2438400" cy="2438400"/>
          </a:xfrm>
        </p:spPr>
      </p:pic>
      <p:pic>
        <p:nvPicPr>
          <p:cNvPr id="7" name="Picture 6" descr="A map of a city&#10;&#10;AI-generated content may be incorrect.">
            <a:extLst>
              <a:ext uri="{FF2B5EF4-FFF2-40B4-BE49-F238E27FC236}">
                <a16:creationId xmlns:a16="http://schemas.microsoft.com/office/drawing/2014/main" id="{AC354E6C-4364-95F2-148A-45473410D5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01980" y="3957034"/>
            <a:ext cx="2438400" cy="2438400"/>
          </a:xfrm>
          <a:prstGeom prst="rect">
            <a:avLst/>
          </a:prstGeom>
        </p:spPr>
      </p:pic>
      <p:pic>
        <p:nvPicPr>
          <p:cNvPr id="11" name="Picture 10" descr="A white rectangular object on a black background&#10;&#10;AI-generated content may be incorrect.">
            <a:extLst>
              <a:ext uri="{FF2B5EF4-FFF2-40B4-BE49-F238E27FC236}">
                <a16:creationId xmlns:a16="http://schemas.microsoft.com/office/drawing/2014/main" id="{0DC0DDA0-5EEE-5A40-03C4-962E2E60C99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0333" y="1340644"/>
            <a:ext cx="2438400" cy="2438400"/>
          </a:xfrm>
          <a:prstGeom prst="rect">
            <a:avLst/>
          </a:prstGeom>
        </p:spPr>
      </p:pic>
      <p:pic>
        <p:nvPicPr>
          <p:cNvPr id="13" name="Picture 12" descr="A map of a city&#10;&#10;AI-generated content may be incorrect.">
            <a:extLst>
              <a:ext uri="{FF2B5EF4-FFF2-40B4-BE49-F238E27FC236}">
                <a16:creationId xmlns:a16="http://schemas.microsoft.com/office/drawing/2014/main" id="{C6950840-1A7E-09F8-E818-B0CBC81E71F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0333" y="3957034"/>
            <a:ext cx="2438400" cy="2438400"/>
          </a:xfrm>
          <a:prstGeom prst="rect">
            <a:avLst/>
          </a:prstGeom>
        </p:spPr>
      </p:pic>
      <p:pic>
        <p:nvPicPr>
          <p:cNvPr id="15" name="Picture 14" descr="A white line on a black background&#10;&#10;AI-generated content may be incorrect.">
            <a:extLst>
              <a:ext uri="{FF2B5EF4-FFF2-40B4-BE49-F238E27FC236}">
                <a16:creationId xmlns:a16="http://schemas.microsoft.com/office/drawing/2014/main" id="{0991B118-631D-4A51-6E65-913A9D588D4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83627" y="1340644"/>
            <a:ext cx="2438400" cy="2438400"/>
          </a:xfrm>
          <a:prstGeom prst="rect">
            <a:avLst/>
          </a:prstGeom>
        </p:spPr>
      </p:pic>
      <p:pic>
        <p:nvPicPr>
          <p:cNvPr id="17" name="Picture 16" descr="A black and white map&#10;&#10;AI-generated content may be incorrect.">
            <a:extLst>
              <a:ext uri="{FF2B5EF4-FFF2-40B4-BE49-F238E27FC236}">
                <a16:creationId xmlns:a16="http://schemas.microsoft.com/office/drawing/2014/main" id="{681C987F-B4FA-D13A-EBC9-5B5DBDCDB86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83627" y="3957034"/>
            <a:ext cx="2438400" cy="2438400"/>
          </a:xfrm>
          <a:prstGeom prst="rect">
            <a:avLst/>
          </a:prstGeom>
        </p:spPr>
      </p:pic>
      <p:pic>
        <p:nvPicPr>
          <p:cNvPr id="19" name="Picture 18" descr="A white line drawing of a ladder&#10;&#10;AI-generated content may be incorrect.">
            <a:extLst>
              <a:ext uri="{FF2B5EF4-FFF2-40B4-BE49-F238E27FC236}">
                <a16:creationId xmlns:a16="http://schemas.microsoft.com/office/drawing/2014/main" id="{BC51867C-6F37-D3F0-82C0-E4B06AF61C3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137024" y="1340644"/>
            <a:ext cx="2438400" cy="2438400"/>
          </a:xfrm>
          <a:prstGeom prst="rect">
            <a:avLst/>
          </a:prstGeom>
        </p:spPr>
      </p:pic>
      <p:pic>
        <p:nvPicPr>
          <p:cNvPr id="21" name="Picture 20" descr="A map of a city&#10;&#10;AI-generated content may be incorrect.">
            <a:extLst>
              <a:ext uri="{FF2B5EF4-FFF2-40B4-BE49-F238E27FC236}">
                <a16:creationId xmlns:a16="http://schemas.microsoft.com/office/drawing/2014/main" id="{D700CF35-FCEC-7086-4B76-1E255C94497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137024" y="3957034"/>
            <a:ext cx="2438400" cy="2438400"/>
          </a:xfrm>
          <a:prstGeom prst="rect">
            <a:avLst/>
          </a:prstGeom>
        </p:spPr>
      </p:pic>
      <p:sp>
        <p:nvSpPr>
          <p:cNvPr id="22" name="TextBox 21">
            <a:extLst>
              <a:ext uri="{FF2B5EF4-FFF2-40B4-BE49-F238E27FC236}">
                <a16:creationId xmlns:a16="http://schemas.microsoft.com/office/drawing/2014/main" id="{7186229B-8E0F-19B9-612E-C0AEA22200A1}"/>
              </a:ext>
            </a:extLst>
          </p:cNvPr>
          <p:cNvSpPr txBox="1"/>
          <p:nvPr/>
        </p:nvSpPr>
        <p:spPr>
          <a:xfrm>
            <a:off x="1115632" y="6410545"/>
            <a:ext cx="1667815" cy="369332"/>
          </a:xfrm>
          <a:prstGeom prst="rect">
            <a:avLst/>
          </a:prstGeom>
          <a:noFill/>
        </p:spPr>
        <p:txBody>
          <a:bodyPr wrap="square" rtlCol="0">
            <a:spAutoFit/>
          </a:bodyPr>
          <a:lstStyle/>
          <a:p>
            <a:r>
              <a:rPr lang="en-US" dirty="0"/>
              <a:t>Noisy Input</a:t>
            </a:r>
            <a:endParaRPr lang="en-GB" dirty="0"/>
          </a:p>
        </p:txBody>
      </p:sp>
      <p:sp>
        <p:nvSpPr>
          <p:cNvPr id="23" name="TextBox 22">
            <a:extLst>
              <a:ext uri="{FF2B5EF4-FFF2-40B4-BE49-F238E27FC236}">
                <a16:creationId xmlns:a16="http://schemas.microsoft.com/office/drawing/2014/main" id="{6C1EB1FF-40CB-E5A8-8F68-95F9C35040E7}"/>
              </a:ext>
            </a:extLst>
          </p:cNvPr>
          <p:cNvSpPr txBox="1"/>
          <p:nvPr/>
        </p:nvSpPr>
        <p:spPr>
          <a:xfrm>
            <a:off x="3697313" y="6451105"/>
            <a:ext cx="1946855" cy="369332"/>
          </a:xfrm>
          <a:prstGeom prst="rect">
            <a:avLst/>
          </a:prstGeom>
          <a:noFill/>
        </p:spPr>
        <p:txBody>
          <a:bodyPr wrap="square" rtlCol="0">
            <a:spAutoFit/>
          </a:bodyPr>
          <a:lstStyle/>
          <a:p>
            <a:r>
              <a:rPr lang="en-US" dirty="0"/>
              <a:t>Model Prediction</a:t>
            </a:r>
            <a:endParaRPr lang="en-GB" dirty="0"/>
          </a:p>
        </p:txBody>
      </p:sp>
      <p:sp>
        <p:nvSpPr>
          <p:cNvPr id="24" name="TextBox 23">
            <a:extLst>
              <a:ext uri="{FF2B5EF4-FFF2-40B4-BE49-F238E27FC236}">
                <a16:creationId xmlns:a16="http://schemas.microsoft.com/office/drawing/2014/main" id="{A6B93300-339B-E079-FF0C-40890F99234D}"/>
              </a:ext>
            </a:extLst>
          </p:cNvPr>
          <p:cNvSpPr txBox="1"/>
          <p:nvPr/>
        </p:nvSpPr>
        <p:spPr>
          <a:xfrm>
            <a:off x="6383627" y="6415774"/>
            <a:ext cx="2732467" cy="369332"/>
          </a:xfrm>
          <a:prstGeom prst="rect">
            <a:avLst/>
          </a:prstGeom>
          <a:noFill/>
        </p:spPr>
        <p:txBody>
          <a:bodyPr wrap="square" rtlCol="0">
            <a:spAutoFit/>
          </a:bodyPr>
          <a:lstStyle/>
          <a:p>
            <a:r>
              <a:rPr lang="en-US" dirty="0"/>
              <a:t>Intermediate soft image</a:t>
            </a:r>
            <a:endParaRPr lang="en-GB" dirty="0"/>
          </a:p>
        </p:txBody>
      </p:sp>
      <p:sp>
        <p:nvSpPr>
          <p:cNvPr id="25" name="TextBox 24">
            <a:extLst>
              <a:ext uri="{FF2B5EF4-FFF2-40B4-BE49-F238E27FC236}">
                <a16:creationId xmlns:a16="http://schemas.microsoft.com/office/drawing/2014/main" id="{E9376517-85F2-66DF-9E3B-C94EEE44731A}"/>
              </a:ext>
            </a:extLst>
          </p:cNvPr>
          <p:cNvSpPr txBox="1"/>
          <p:nvPr/>
        </p:nvSpPr>
        <p:spPr>
          <a:xfrm>
            <a:off x="9613542" y="6410545"/>
            <a:ext cx="1667815" cy="369332"/>
          </a:xfrm>
          <a:prstGeom prst="rect">
            <a:avLst/>
          </a:prstGeom>
          <a:noFill/>
        </p:spPr>
        <p:txBody>
          <a:bodyPr wrap="square" rtlCol="0">
            <a:spAutoFit/>
          </a:bodyPr>
          <a:lstStyle/>
          <a:p>
            <a:r>
              <a:rPr lang="en-US" dirty="0"/>
              <a:t>Ground truth</a:t>
            </a:r>
            <a:endParaRPr lang="en-GB" dirty="0"/>
          </a:p>
        </p:txBody>
      </p:sp>
    </p:spTree>
    <p:extLst>
      <p:ext uri="{BB962C8B-B14F-4D97-AF65-F5344CB8AC3E}">
        <p14:creationId xmlns:p14="http://schemas.microsoft.com/office/powerpoint/2010/main" val="7566669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C60AC-3CA8-9BCA-65BD-1EB4D744A8FC}"/>
              </a:ext>
            </a:extLst>
          </p:cNvPr>
          <p:cNvSpPr>
            <a:spLocks noGrp="1"/>
          </p:cNvSpPr>
          <p:nvPr>
            <p:ph type="title"/>
          </p:nvPr>
        </p:nvSpPr>
        <p:spPr/>
        <p:txBody>
          <a:bodyPr/>
          <a:lstStyle/>
          <a:p>
            <a:r>
              <a:rPr lang="en-US" dirty="0"/>
              <a:t>Training Loss </a:t>
            </a:r>
            <a:endParaRPr lang="en-GB" dirty="0"/>
          </a:p>
        </p:txBody>
      </p:sp>
      <p:pic>
        <p:nvPicPr>
          <p:cNvPr id="5" name="Content Placeholder 4" descr="A graph with a line&#10;&#10;AI-generated content may be incorrect.">
            <a:extLst>
              <a:ext uri="{FF2B5EF4-FFF2-40B4-BE49-F238E27FC236}">
                <a16:creationId xmlns:a16="http://schemas.microsoft.com/office/drawing/2014/main" id="{373E08FD-4EEC-AA25-CD02-2F4A500228F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98517" y="1726105"/>
            <a:ext cx="5801784" cy="4351338"/>
          </a:xfrm>
        </p:spPr>
      </p:pic>
    </p:spTree>
    <p:extLst>
      <p:ext uri="{BB962C8B-B14F-4D97-AF65-F5344CB8AC3E}">
        <p14:creationId xmlns:p14="http://schemas.microsoft.com/office/powerpoint/2010/main" val="42474949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27E16-F8A3-1911-2AA4-D224429A7529}"/>
              </a:ext>
            </a:extLst>
          </p:cNvPr>
          <p:cNvSpPr>
            <a:spLocks noGrp="1"/>
          </p:cNvSpPr>
          <p:nvPr>
            <p:ph type="title"/>
          </p:nvPr>
        </p:nvSpPr>
        <p:spPr/>
        <p:txBody>
          <a:bodyPr/>
          <a:lstStyle/>
          <a:p>
            <a:r>
              <a:rPr lang="en-US" dirty="0"/>
              <a:t>Node Precision and Recall</a:t>
            </a:r>
            <a:endParaRPr lang="en-GB" dirty="0"/>
          </a:p>
        </p:txBody>
      </p:sp>
      <p:sp>
        <p:nvSpPr>
          <p:cNvPr id="3" name="Content Placeholder 2">
            <a:extLst>
              <a:ext uri="{FF2B5EF4-FFF2-40B4-BE49-F238E27FC236}">
                <a16:creationId xmlns:a16="http://schemas.microsoft.com/office/drawing/2014/main" id="{8D03FCAD-1975-2227-96CB-2FC9C07D78D5}"/>
              </a:ext>
            </a:extLst>
          </p:cNvPr>
          <p:cNvSpPr>
            <a:spLocks noGrp="1"/>
          </p:cNvSpPr>
          <p:nvPr>
            <p:ph idx="1"/>
          </p:nvPr>
        </p:nvSpPr>
        <p:spPr/>
        <p:txBody>
          <a:bodyPr/>
          <a:lstStyle/>
          <a:p>
            <a:endParaRPr lang="en-GB"/>
          </a:p>
        </p:txBody>
      </p:sp>
      <p:pic>
        <p:nvPicPr>
          <p:cNvPr id="5" name="Picture 4">
            <a:extLst>
              <a:ext uri="{FF2B5EF4-FFF2-40B4-BE49-F238E27FC236}">
                <a16:creationId xmlns:a16="http://schemas.microsoft.com/office/drawing/2014/main" id="{CF9EA450-6703-58D0-CEBA-3B263C5C0978}"/>
              </a:ext>
            </a:extLst>
          </p:cNvPr>
          <p:cNvPicPr>
            <a:picLocks noChangeAspect="1"/>
          </p:cNvPicPr>
          <p:nvPr/>
        </p:nvPicPr>
        <p:blipFill>
          <a:blip r:embed="rId2"/>
          <a:stretch>
            <a:fillRect/>
          </a:stretch>
        </p:blipFill>
        <p:spPr>
          <a:xfrm>
            <a:off x="2862262" y="2839255"/>
            <a:ext cx="6467475" cy="2209800"/>
          </a:xfrm>
          <a:prstGeom prst="rect">
            <a:avLst/>
          </a:prstGeom>
        </p:spPr>
      </p:pic>
    </p:spTree>
    <p:extLst>
      <p:ext uri="{BB962C8B-B14F-4D97-AF65-F5344CB8AC3E}">
        <p14:creationId xmlns:p14="http://schemas.microsoft.com/office/powerpoint/2010/main" val="22421612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8E32F-E8F3-FD94-0F8F-8975362C8754}"/>
              </a:ext>
            </a:extLst>
          </p:cNvPr>
          <p:cNvSpPr>
            <a:spLocks noGrp="1"/>
          </p:cNvSpPr>
          <p:nvPr>
            <p:ph type="title"/>
          </p:nvPr>
        </p:nvSpPr>
        <p:spPr/>
        <p:txBody>
          <a:bodyPr/>
          <a:lstStyle/>
          <a:p>
            <a:r>
              <a:rPr lang="en-US" dirty="0"/>
              <a:t>Experimental Set Up</a:t>
            </a:r>
            <a:endParaRPr lang="en-GB" dirty="0"/>
          </a:p>
        </p:txBody>
      </p:sp>
      <p:sp>
        <p:nvSpPr>
          <p:cNvPr id="3" name="Content Placeholder 2">
            <a:extLst>
              <a:ext uri="{FF2B5EF4-FFF2-40B4-BE49-F238E27FC236}">
                <a16:creationId xmlns:a16="http://schemas.microsoft.com/office/drawing/2014/main" id="{CA09FC95-D482-DD16-EC3F-BC0B1CB0F243}"/>
              </a:ext>
            </a:extLst>
          </p:cNvPr>
          <p:cNvSpPr>
            <a:spLocks noGrp="1"/>
          </p:cNvSpPr>
          <p:nvPr>
            <p:ph idx="1"/>
          </p:nvPr>
        </p:nvSpPr>
        <p:spPr/>
        <p:txBody>
          <a:bodyPr/>
          <a:lstStyle/>
          <a:p>
            <a:r>
              <a:rPr lang="en-US" dirty="0"/>
              <a:t>The project is being dissected into the following steps </a:t>
            </a:r>
          </a:p>
          <a:p>
            <a:pPr lvl="1"/>
            <a:r>
              <a:rPr lang="en-US" dirty="0"/>
              <a:t>Data Generation</a:t>
            </a:r>
          </a:p>
          <a:p>
            <a:pPr lvl="1"/>
            <a:r>
              <a:rPr lang="en-US" dirty="0"/>
              <a:t>Design Model Architecture</a:t>
            </a:r>
          </a:p>
          <a:p>
            <a:pPr lvl="1"/>
            <a:r>
              <a:rPr lang="en-US" dirty="0"/>
              <a:t>Set Training Setup</a:t>
            </a:r>
          </a:p>
          <a:p>
            <a:pPr lvl="1"/>
            <a:r>
              <a:rPr lang="en-US" dirty="0"/>
              <a:t>Check Quantitative and Qualitative Result</a:t>
            </a:r>
          </a:p>
          <a:p>
            <a:pPr lvl="1"/>
            <a:r>
              <a:rPr lang="en-US" dirty="0"/>
              <a:t>Design Iterations </a:t>
            </a:r>
          </a:p>
          <a:p>
            <a:pPr lvl="1"/>
            <a:r>
              <a:rPr lang="en-US" dirty="0"/>
              <a:t>Final Result</a:t>
            </a:r>
          </a:p>
          <a:p>
            <a:pPr marL="0" indent="0">
              <a:buNone/>
            </a:pPr>
            <a:endParaRPr lang="en-US" dirty="0"/>
          </a:p>
          <a:p>
            <a:pPr lvl="1"/>
            <a:endParaRPr lang="en-US" dirty="0"/>
          </a:p>
          <a:p>
            <a:pPr lvl="1"/>
            <a:endParaRPr lang="en-US" dirty="0"/>
          </a:p>
          <a:p>
            <a:pPr lvl="1"/>
            <a:endParaRPr lang="en-GB" dirty="0"/>
          </a:p>
        </p:txBody>
      </p:sp>
    </p:spTree>
    <p:extLst>
      <p:ext uri="{BB962C8B-B14F-4D97-AF65-F5344CB8AC3E}">
        <p14:creationId xmlns:p14="http://schemas.microsoft.com/office/powerpoint/2010/main" val="20357117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6B521-BEF5-3C16-027D-B9138FD74125}"/>
              </a:ext>
            </a:extLst>
          </p:cNvPr>
          <p:cNvSpPr>
            <a:spLocks noGrp="1"/>
          </p:cNvSpPr>
          <p:nvPr>
            <p:ph type="title"/>
          </p:nvPr>
        </p:nvSpPr>
        <p:spPr/>
        <p:txBody>
          <a:bodyPr/>
          <a:lstStyle/>
          <a:p>
            <a:r>
              <a:rPr lang="en-US" dirty="0"/>
              <a:t>Data Generation</a:t>
            </a:r>
            <a:endParaRPr lang="en-GB" dirty="0"/>
          </a:p>
        </p:txBody>
      </p:sp>
      <p:sp>
        <p:nvSpPr>
          <p:cNvPr id="3" name="Content Placeholder 2">
            <a:extLst>
              <a:ext uri="{FF2B5EF4-FFF2-40B4-BE49-F238E27FC236}">
                <a16:creationId xmlns:a16="http://schemas.microsoft.com/office/drawing/2014/main" id="{6E64E71C-F993-A4A5-F66B-922A8F5EB3F1}"/>
              </a:ext>
            </a:extLst>
          </p:cNvPr>
          <p:cNvSpPr>
            <a:spLocks noGrp="1"/>
          </p:cNvSpPr>
          <p:nvPr>
            <p:ph idx="1"/>
          </p:nvPr>
        </p:nvSpPr>
        <p:spPr/>
        <p:txBody>
          <a:bodyPr/>
          <a:lstStyle/>
          <a:p>
            <a:r>
              <a:rPr lang="en-US" dirty="0"/>
              <a:t>The original data generated is clear and clean </a:t>
            </a:r>
          </a:p>
          <a:p>
            <a:r>
              <a:rPr lang="en-US" dirty="0"/>
              <a:t>Want to generate noise, blurry data </a:t>
            </a:r>
            <a:endParaRPr lang="en-GB" dirty="0"/>
          </a:p>
        </p:txBody>
      </p:sp>
      <p:pic>
        <p:nvPicPr>
          <p:cNvPr id="9" name="Picture 8" descr="A map of a city&#10;&#10;AI-generated content may be incorrect.">
            <a:extLst>
              <a:ext uri="{FF2B5EF4-FFF2-40B4-BE49-F238E27FC236}">
                <a16:creationId xmlns:a16="http://schemas.microsoft.com/office/drawing/2014/main" id="{0FE28C5D-2AC9-A91B-C4DF-0DF20C546F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10496" y="3111321"/>
            <a:ext cx="2438400" cy="2438400"/>
          </a:xfrm>
          <a:prstGeom prst="rect">
            <a:avLst/>
          </a:prstGeom>
        </p:spPr>
      </p:pic>
      <p:pic>
        <p:nvPicPr>
          <p:cNvPr id="11" name="Picture 10" descr="A map of a city&#10;&#10;AI-generated content may be incorrect.">
            <a:extLst>
              <a:ext uri="{FF2B5EF4-FFF2-40B4-BE49-F238E27FC236}">
                <a16:creationId xmlns:a16="http://schemas.microsoft.com/office/drawing/2014/main" id="{563C66B8-3041-32A4-216A-87C109CA15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14315" y="3111321"/>
            <a:ext cx="2438400" cy="2438400"/>
          </a:xfrm>
          <a:prstGeom prst="rect">
            <a:avLst/>
          </a:prstGeom>
        </p:spPr>
      </p:pic>
      <p:sp>
        <p:nvSpPr>
          <p:cNvPr id="13" name="TextBox 12">
            <a:extLst>
              <a:ext uri="{FF2B5EF4-FFF2-40B4-BE49-F238E27FC236}">
                <a16:creationId xmlns:a16="http://schemas.microsoft.com/office/drawing/2014/main" id="{2E0B3D1C-6D79-800E-A924-45D9A92CC0A5}"/>
              </a:ext>
            </a:extLst>
          </p:cNvPr>
          <p:cNvSpPr txBox="1"/>
          <p:nvPr/>
        </p:nvSpPr>
        <p:spPr>
          <a:xfrm>
            <a:off x="2976631" y="5678676"/>
            <a:ext cx="6094926" cy="369332"/>
          </a:xfrm>
          <a:prstGeom prst="rect">
            <a:avLst/>
          </a:prstGeom>
          <a:noFill/>
        </p:spPr>
        <p:txBody>
          <a:bodyPr wrap="square">
            <a:spAutoFit/>
          </a:bodyPr>
          <a:lstStyle/>
          <a:p>
            <a:r>
              <a:rPr lang="en-US" dirty="0"/>
              <a:t>original data </a:t>
            </a:r>
            <a:endParaRPr lang="en-GB" dirty="0"/>
          </a:p>
        </p:txBody>
      </p:sp>
      <p:sp>
        <p:nvSpPr>
          <p:cNvPr id="15" name="TextBox 14">
            <a:extLst>
              <a:ext uri="{FF2B5EF4-FFF2-40B4-BE49-F238E27FC236}">
                <a16:creationId xmlns:a16="http://schemas.microsoft.com/office/drawing/2014/main" id="{CCB11FCB-BF32-27D5-BD00-40BDDCA9D545}"/>
              </a:ext>
            </a:extLst>
          </p:cNvPr>
          <p:cNvSpPr txBox="1"/>
          <p:nvPr/>
        </p:nvSpPr>
        <p:spPr>
          <a:xfrm>
            <a:off x="7587267" y="5701395"/>
            <a:ext cx="6094926" cy="369332"/>
          </a:xfrm>
          <a:prstGeom prst="rect">
            <a:avLst/>
          </a:prstGeom>
          <a:noFill/>
        </p:spPr>
        <p:txBody>
          <a:bodyPr wrap="square">
            <a:spAutoFit/>
          </a:bodyPr>
          <a:lstStyle/>
          <a:p>
            <a:r>
              <a:rPr lang="en-US" dirty="0"/>
              <a:t>noise, blurry data </a:t>
            </a:r>
            <a:endParaRPr lang="en-GB" dirty="0"/>
          </a:p>
        </p:txBody>
      </p:sp>
    </p:spTree>
    <p:extLst>
      <p:ext uri="{BB962C8B-B14F-4D97-AF65-F5344CB8AC3E}">
        <p14:creationId xmlns:p14="http://schemas.microsoft.com/office/powerpoint/2010/main" val="38929676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E9644-32DF-514A-244F-0A59EC967F14}"/>
              </a:ext>
            </a:extLst>
          </p:cNvPr>
          <p:cNvSpPr>
            <a:spLocks noGrp="1"/>
          </p:cNvSpPr>
          <p:nvPr>
            <p:ph type="title"/>
          </p:nvPr>
        </p:nvSpPr>
        <p:spPr/>
        <p:txBody>
          <a:bodyPr/>
          <a:lstStyle/>
          <a:p>
            <a:r>
              <a:rPr lang="en-US" dirty="0"/>
              <a:t>Data Generation – generate noise</a:t>
            </a:r>
            <a:endParaRPr lang="en-GB" dirty="0"/>
          </a:p>
        </p:txBody>
      </p:sp>
      <p:sp>
        <p:nvSpPr>
          <p:cNvPr id="3" name="Content Placeholder 2">
            <a:extLst>
              <a:ext uri="{FF2B5EF4-FFF2-40B4-BE49-F238E27FC236}">
                <a16:creationId xmlns:a16="http://schemas.microsoft.com/office/drawing/2014/main" id="{D45AF35B-DF0E-A0D9-CF08-017A5EC431DA}"/>
              </a:ext>
            </a:extLst>
          </p:cNvPr>
          <p:cNvSpPr>
            <a:spLocks noGrp="1"/>
          </p:cNvSpPr>
          <p:nvPr>
            <p:ph idx="1"/>
          </p:nvPr>
        </p:nvSpPr>
        <p:spPr/>
        <p:txBody>
          <a:bodyPr/>
          <a:lstStyle/>
          <a:p>
            <a:r>
              <a:rPr lang="en-US" dirty="0"/>
              <a:t>Following lines turns original image to grey scale, then to Tensor</a:t>
            </a:r>
          </a:p>
          <a:p>
            <a:r>
              <a:rPr lang="en-US" dirty="0"/>
              <a:t>Adds per-pixel Gaussian noise (0.05)</a:t>
            </a:r>
          </a:p>
          <a:p>
            <a:r>
              <a:rPr lang="en-US" dirty="0"/>
              <a:t>50% chance have a 5x5 size of gaussian Blur (mimicking bad resolutions or shoots taken)</a:t>
            </a:r>
          </a:p>
          <a:p>
            <a:r>
              <a:rPr lang="en-US" dirty="0"/>
              <a:t>Clamps result to valid range</a:t>
            </a:r>
          </a:p>
          <a:p>
            <a:endParaRPr lang="en-GB" dirty="0"/>
          </a:p>
        </p:txBody>
      </p:sp>
      <p:pic>
        <p:nvPicPr>
          <p:cNvPr id="5" name="Picture 4">
            <a:extLst>
              <a:ext uri="{FF2B5EF4-FFF2-40B4-BE49-F238E27FC236}">
                <a16:creationId xmlns:a16="http://schemas.microsoft.com/office/drawing/2014/main" id="{0E6D2700-AFB0-0AA0-C25F-835BDA4457F2}"/>
              </a:ext>
            </a:extLst>
          </p:cNvPr>
          <p:cNvPicPr>
            <a:picLocks noChangeAspect="1"/>
          </p:cNvPicPr>
          <p:nvPr/>
        </p:nvPicPr>
        <p:blipFill>
          <a:blip r:embed="rId2"/>
          <a:stretch>
            <a:fillRect/>
          </a:stretch>
        </p:blipFill>
        <p:spPr>
          <a:xfrm>
            <a:off x="1181033" y="4278190"/>
            <a:ext cx="6391275" cy="1771650"/>
          </a:xfrm>
          <a:prstGeom prst="rect">
            <a:avLst/>
          </a:prstGeom>
        </p:spPr>
      </p:pic>
    </p:spTree>
    <p:extLst>
      <p:ext uri="{BB962C8B-B14F-4D97-AF65-F5344CB8AC3E}">
        <p14:creationId xmlns:p14="http://schemas.microsoft.com/office/powerpoint/2010/main" val="1518366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7C63C-BFF9-BBA5-69F9-3AFFE1BDBB37}"/>
              </a:ext>
            </a:extLst>
          </p:cNvPr>
          <p:cNvSpPr>
            <a:spLocks noGrp="1"/>
          </p:cNvSpPr>
          <p:nvPr>
            <p:ph type="title"/>
          </p:nvPr>
        </p:nvSpPr>
        <p:spPr/>
        <p:txBody>
          <a:bodyPr/>
          <a:lstStyle/>
          <a:p>
            <a:r>
              <a:rPr lang="en-GB" dirty="0"/>
              <a:t>Model Architecture – base U-net</a:t>
            </a:r>
          </a:p>
        </p:txBody>
      </p:sp>
      <p:sp>
        <p:nvSpPr>
          <p:cNvPr id="3" name="Content Placeholder 2">
            <a:extLst>
              <a:ext uri="{FF2B5EF4-FFF2-40B4-BE49-F238E27FC236}">
                <a16:creationId xmlns:a16="http://schemas.microsoft.com/office/drawing/2014/main" id="{97943176-B43F-7BE1-4BF4-2736F1876D7D}"/>
              </a:ext>
            </a:extLst>
          </p:cNvPr>
          <p:cNvSpPr>
            <a:spLocks noGrp="1"/>
          </p:cNvSpPr>
          <p:nvPr>
            <p:ph idx="1"/>
          </p:nvPr>
        </p:nvSpPr>
        <p:spPr>
          <a:xfrm>
            <a:off x="838200" y="1825625"/>
            <a:ext cx="10515600" cy="4832752"/>
          </a:xfrm>
        </p:spPr>
        <p:txBody>
          <a:bodyPr/>
          <a:lstStyle/>
          <a:p>
            <a:r>
              <a:rPr lang="en-US" dirty="0"/>
              <a:t>The baseline is to Implement a U-net</a:t>
            </a:r>
          </a:p>
          <a:p>
            <a:pPr lvl="1"/>
            <a:r>
              <a:rPr lang="en-US" dirty="0"/>
              <a:t>Input</a:t>
            </a:r>
          </a:p>
          <a:p>
            <a:pPr lvl="2"/>
            <a:r>
              <a:rPr lang="en-US" dirty="0"/>
              <a:t>Input shape: (1, 256, 256) </a:t>
            </a:r>
            <a:r>
              <a:rPr lang="en-GB" dirty="0"/>
              <a:t>- a greyscale (256, 256) image</a:t>
            </a:r>
          </a:p>
          <a:p>
            <a:pPr lvl="2"/>
            <a:r>
              <a:rPr lang="en-GB" dirty="0"/>
              <a:t>Output: </a:t>
            </a:r>
            <a:r>
              <a:rPr lang="en-US" dirty="0"/>
              <a:t>(1, 256, 256) – a probability map, predict 1-channel skeleton logits</a:t>
            </a:r>
          </a:p>
          <a:p>
            <a:pPr lvl="1"/>
            <a:r>
              <a:rPr lang="en-US" dirty="0"/>
              <a:t>Encoder Structure (Each block = </a:t>
            </a:r>
            <a:r>
              <a:rPr lang="en-US" dirty="0" err="1"/>
              <a:t>MaxPool</a:t>
            </a:r>
            <a:r>
              <a:rPr lang="en-US" dirty="0"/>
              <a:t>(2x2)</a:t>
            </a:r>
            <a:r>
              <a:rPr lang="en-GB" dirty="0"/>
              <a:t> → </a:t>
            </a:r>
            <a:r>
              <a:rPr lang="en-GB" dirty="0" err="1"/>
              <a:t>DoubleConv</a:t>
            </a:r>
            <a:r>
              <a:rPr lang="en-US" dirty="0"/>
              <a:t>)</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a:t>Final down4 reduces by factor of 16</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marL="457200" lvl="1" indent="0">
              <a:buNone/>
            </a:pPr>
            <a:endParaRPr lang="en-US" dirty="0"/>
          </a:p>
          <a:p>
            <a:pPr lvl="1"/>
            <a:endParaRPr lang="en-US" dirty="0"/>
          </a:p>
        </p:txBody>
      </p:sp>
      <p:graphicFrame>
        <p:nvGraphicFramePr>
          <p:cNvPr id="4" name="Table 3">
            <a:extLst>
              <a:ext uri="{FF2B5EF4-FFF2-40B4-BE49-F238E27FC236}">
                <a16:creationId xmlns:a16="http://schemas.microsoft.com/office/drawing/2014/main" id="{4F0C2E76-FE9E-6C46-E116-09B99C2C2C86}"/>
              </a:ext>
            </a:extLst>
          </p:cNvPr>
          <p:cNvGraphicFramePr>
            <a:graphicFrameLocks noGrp="1"/>
          </p:cNvGraphicFramePr>
          <p:nvPr>
            <p:extLst>
              <p:ext uri="{D42A27DB-BD31-4B8C-83A1-F6EECF244321}">
                <p14:modId xmlns:p14="http://schemas.microsoft.com/office/powerpoint/2010/main" val="3567827200"/>
              </p:ext>
            </p:extLst>
          </p:nvPr>
        </p:nvGraphicFramePr>
        <p:xfrm>
          <a:off x="838200" y="3667250"/>
          <a:ext cx="10515600" cy="2194560"/>
        </p:xfrm>
        <a:graphic>
          <a:graphicData uri="http://schemas.openxmlformats.org/drawingml/2006/table">
            <a:tbl>
              <a:tblPr/>
              <a:tblGrid>
                <a:gridCol w="2628900">
                  <a:extLst>
                    <a:ext uri="{9D8B030D-6E8A-4147-A177-3AD203B41FA5}">
                      <a16:colId xmlns:a16="http://schemas.microsoft.com/office/drawing/2014/main" val="2415498578"/>
                    </a:ext>
                  </a:extLst>
                </a:gridCol>
                <a:gridCol w="2628900">
                  <a:extLst>
                    <a:ext uri="{9D8B030D-6E8A-4147-A177-3AD203B41FA5}">
                      <a16:colId xmlns:a16="http://schemas.microsoft.com/office/drawing/2014/main" val="2417942524"/>
                    </a:ext>
                  </a:extLst>
                </a:gridCol>
                <a:gridCol w="2628900">
                  <a:extLst>
                    <a:ext uri="{9D8B030D-6E8A-4147-A177-3AD203B41FA5}">
                      <a16:colId xmlns:a16="http://schemas.microsoft.com/office/drawing/2014/main" val="1367262202"/>
                    </a:ext>
                  </a:extLst>
                </a:gridCol>
                <a:gridCol w="2628900">
                  <a:extLst>
                    <a:ext uri="{9D8B030D-6E8A-4147-A177-3AD203B41FA5}">
                      <a16:colId xmlns:a16="http://schemas.microsoft.com/office/drawing/2014/main" val="1775423695"/>
                    </a:ext>
                  </a:extLst>
                </a:gridCol>
              </a:tblGrid>
              <a:tr h="0">
                <a:tc>
                  <a:txBody>
                    <a:bodyPr/>
                    <a:lstStyle/>
                    <a:p>
                      <a:r>
                        <a:rPr lang="en-GB" b="1" dirty="0"/>
                        <a:t>Layer</a:t>
                      </a:r>
                    </a:p>
                  </a:txBody>
                  <a:tcPr anchor="ctr">
                    <a:lnL>
                      <a:noFill/>
                    </a:lnL>
                    <a:lnR>
                      <a:noFill/>
                    </a:lnR>
                    <a:lnT>
                      <a:noFill/>
                    </a:lnT>
                    <a:lnB>
                      <a:noFill/>
                    </a:lnB>
                    <a:noFill/>
                  </a:tcPr>
                </a:tc>
                <a:tc>
                  <a:txBody>
                    <a:bodyPr/>
                    <a:lstStyle/>
                    <a:p>
                      <a:r>
                        <a:rPr lang="en-GB" b="1"/>
                        <a:t>Input Channels</a:t>
                      </a:r>
                      <a:endParaRPr lang="en-GB" b="1" dirty="0"/>
                    </a:p>
                  </a:txBody>
                  <a:tcPr anchor="ctr">
                    <a:lnL>
                      <a:noFill/>
                    </a:lnL>
                    <a:lnR>
                      <a:noFill/>
                    </a:lnR>
                    <a:lnT>
                      <a:noFill/>
                    </a:lnT>
                    <a:lnB>
                      <a:noFill/>
                    </a:lnB>
                    <a:noFill/>
                  </a:tcPr>
                </a:tc>
                <a:tc>
                  <a:txBody>
                    <a:bodyPr/>
                    <a:lstStyle/>
                    <a:p>
                      <a:r>
                        <a:rPr lang="en-GB" b="1"/>
                        <a:t>Output Channels</a:t>
                      </a:r>
                      <a:endParaRPr lang="en-GB" b="1" dirty="0"/>
                    </a:p>
                  </a:txBody>
                  <a:tcPr anchor="ctr">
                    <a:lnL>
                      <a:noFill/>
                    </a:lnL>
                    <a:lnR>
                      <a:noFill/>
                    </a:lnR>
                    <a:lnT>
                      <a:noFill/>
                    </a:lnT>
                    <a:lnB>
                      <a:noFill/>
                    </a:lnB>
                    <a:noFill/>
                  </a:tcPr>
                </a:tc>
                <a:tc>
                  <a:txBody>
                    <a:bodyPr/>
                    <a:lstStyle/>
                    <a:p>
                      <a:r>
                        <a:rPr lang="en-GB" b="1" dirty="0"/>
                        <a:t>Output Size</a:t>
                      </a:r>
                    </a:p>
                  </a:txBody>
                  <a:tcPr anchor="ctr">
                    <a:lnL>
                      <a:noFill/>
                    </a:lnL>
                    <a:lnR>
                      <a:noFill/>
                    </a:lnR>
                    <a:lnT>
                      <a:noFill/>
                    </a:lnT>
                    <a:lnB>
                      <a:noFill/>
                    </a:lnB>
                    <a:noFill/>
                  </a:tcPr>
                </a:tc>
                <a:extLst>
                  <a:ext uri="{0D108BD9-81ED-4DB2-BD59-A6C34878D82A}">
                    <a16:rowId xmlns:a16="http://schemas.microsoft.com/office/drawing/2014/main" val="30651479"/>
                  </a:ext>
                </a:extLst>
              </a:tr>
              <a:tr h="0">
                <a:tc>
                  <a:txBody>
                    <a:bodyPr/>
                    <a:lstStyle/>
                    <a:p>
                      <a:r>
                        <a:rPr lang="en-GB" dirty="0" err="1"/>
                        <a:t>inc</a:t>
                      </a:r>
                      <a:endParaRPr lang="en-GB" dirty="0"/>
                    </a:p>
                  </a:txBody>
                  <a:tcPr anchor="ctr">
                    <a:lnL>
                      <a:noFill/>
                    </a:lnL>
                    <a:lnR>
                      <a:noFill/>
                    </a:lnR>
                    <a:lnT>
                      <a:noFill/>
                    </a:lnT>
                    <a:lnB>
                      <a:noFill/>
                    </a:lnB>
                    <a:noFill/>
                  </a:tcPr>
                </a:tc>
                <a:tc>
                  <a:txBody>
                    <a:bodyPr/>
                    <a:lstStyle/>
                    <a:p>
                      <a:r>
                        <a:rPr lang="en-GB"/>
                        <a:t>1</a:t>
                      </a:r>
                    </a:p>
                  </a:txBody>
                  <a:tcPr anchor="ctr">
                    <a:lnL>
                      <a:noFill/>
                    </a:lnL>
                    <a:lnR>
                      <a:noFill/>
                    </a:lnR>
                    <a:lnT>
                      <a:noFill/>
                    </a:lnT>
                    <a:lnB>
                      <a:noFill/>
                    </a:lnB>
                    <a:noFill/>
                  </a:tcPr>
                </a:tc>
                <a:tc>
                  <a:txBody>
                    <a:bodyPr/>
                    <a:lstStyle/>
                    <a:p>
                      <a:r>
                        <a:rPr lang="en-GB"/>
                        <a:t>64</a:t>
                      </a:r>
                    </a:p>
                  </a:txBody>
                  <a:tcPr anchor="ctr">
                    <a:lnL>
                      <a:noFill/>
                    </a:lnL>
                    <a:lnR>
                      <a:noFill/>
                    </a:lnR>
                    <a:lnT>
                      <a:noFill/>
                    </a:lnT>
                    <a:lnB>
                      <a:noFill/>
                    </a:lnB>
                    <a:noFill/>
                  </a:tcPr>
                </a:tc>
                <a:tc>
                  <a:txBody>
                    <a:bodyPr/>
                    <a:lstStyle/>
                    <a:p>
                      <a:r>
                        <a:rPr lang="en-GB"/>
                        <a:t>(64, 256, 256)</a:t>
                      </a:r>
                    </a:p>
                  </a:txBody>
                  <a:tcPr anchor="ctr">
                    <a:lnL>
                      <a:noFill/>
                    </a:lnL>
                    <a:lnR>
                      <a:noFill/>
                    </a:lnR>
                    <a:lnT>
                      <a:noFill/>
                    </a:lnT>
                    <a:lnB>
                      <a:noFill/>
                    </a:lnB>
                    <a:noFill/>
                  </a:tcPr>
                </a:tc>
                <a:extLst>
                  <a:ext uri="{0D108BD9-81ED-4DB2-BD59-A6C34878D82A}">
                    <a16:rowId xmlns:a16="http://schemas.microsoft.com/office/drawing/2014/main" val="1869904056"/>
                  </a:ext>
                </a:extLst>
              </a:tr>
              <a:tr h="0">
                <a:tc>
                  <a:txBody>
                    <a:bodyPr/>
                    <a:lstStyle/>
                    <a:p>
                      <a:r>
                        <a:rPr lang="en-GB"/>
                        <a:t>down1</a:t>
                      </a:r>
                    </a:p>
                  </a:txBody>
                  <a:tcPr anchor="ctr">
                    <a:lnL>
                      <a:noFill/>
                    </a:lnL>
                    <a:lnR>
                      <a:noFill/>
                    </a:lnR>
                    <a:lnT>
                      <a:noFill/>
                    </a:lnT>
                    <a:lnB>
                      <a:noFill/>
                    </a:lnB>
                    <a:noFill/>
                  </a:tcPr>
                </a:tc>
                <a:tc>
                  <a:txBody>
                    <a:bodyPr/>
                    <a:lstStyle/>
                    <a:p>
                      <a:r>
                        <a:rPr lang="en-GB"/>
                        <a:t>64</a:t>
                      </a:r>
                    </a:p>
                  </a:txBody>
                  <a:tcPr anchor="ctr">
                    <a:lnL>
                      <a:noFill/>
                    </a:lnL>
                    <a:lnR>
                      <a:noFill/>
                    </a:lnR>
                    <a:lnT>
                      <a:noFill/>
                    </a:lnT>
                    <a:lnB>
                      <a:noFill/>
                    </a:lnB>
                    <a:noFill/>
                  </a:tcPr>
                </a:tc>
                <a:tc>
                  <a:txBody>
                    <a:bodyPr/>
                    <a:lstStyle/>
                    <a:p>
                      <a:r>
                        <a:rPr lang="en-GB"/>
                        <a:t>128</a:t>
                      </a:r>
                    </a:p>
                  </a:txBody>
                  <a:tcPr anchor="ctr">
                    <a:lnL>
                      <a:noFill/>
                    </a:lnL>
                    <a:lnR>
                      <a:noFill/>
                    </a:lnR>
                    <a:lnT>
                      <a:noFill/>
                    </a:lnT>
                    <a:lnB>
                      <a:noFill/>
                    </a:lnB>
                    <a:noFill/>
                  </a:tcPr>
                </a:tc>
                <a:tc>
                  <a:txBody>
                    <a:bodyPr/>
                    <a:lstStyle/>
                    <a:p>
                      <a:r>
                        <a:rPr lang="en-GB"/>
                        <a:t>(128, 128, 128)</a:t>
                      </a:r>
                    </a:p>
                  </a:txBody>
                  <a:tcPr anchor="ctr">
                    <a:lnL>
                      <a:noFill/>
                    </a:lnL>
                    <a:lnR>
                      <a:noFill/>
                    </a:lnR>
                    <a:lnT>
                      <a:noFill/>
                    </a:lnT>
                    <a:lnB>
                      <a:noFill/>
                    </a:lnB>
                    <a:noFill/>
                  </a:tcPr>
                </a:tc>
                <a:extLst>
                  <a:ext uri="{0D108BD9-81ED-4DB2-BD59-A6C34878D82A}">
                    <a16:rowId xmlns:a16="http://schemas.microsoft.com/office/drawing/2014/main" val="2935369503"/>
                  </a:ext>
                </a:extLst>
              </a:tr>
              <a:tr h="0">
                <a:tc>
                  <a:txBody>
                    <a:bodyPr/>
                    <a:lstStyle/>
                    <a:p>
                      <a:r>
                        <a:rPr lang="en-GB"/>
                        <a:t>down2</a:t>
                      </a:r>
                    </a:p>
                  </a:txBody>
                  <a:tcPr anchor="ctr">
                    <a:lnL>
                      <a:noFill/>
                    </a:lnL>
                    <a:lnR>
                      <a:noFill/>
                    </a:lnR>
                    <a:lnT>
                      <a:noFill/>
                    </a:lnT>
                    <a:lnB>
                      <a:noFill/>
                    </a:lnB>
                    <a:noFill/>
                  </a:tcPr>
                </a:tc>
                <a:tc>
                  <a:txBody>
                    <a:bodyPr/>
                    <a:lstStyle/>
                    <a:p>
                      <a:r>
                        <a:rPr lang="en-GB"/>
                        <a:t>128</a:t>
                      </a:r>
                    </a:p>
                  </a:txBody>
                  <a:tcPr anchor="ctr">
                    <a:lnL>
                      <a:noFill/>
                    </a:lnL>
                    <a:lnR>
                      <a:noFill/>
                    </a:lnR>
                    <a:lnT>
                      <a:noFill/>
                    </a:lnT>
                    <a:lnB>
                      <a:noFill/>
                    </a:lnB>
                    <a:noFill/>
                  </a:tcPr>
                </a:tc>
                <a:tc>
                  <a:txBody>
                    <a:bodyPr/>
                    <a:lstStyle/>
                    <a:p>
                      <a:r>
                        <a:rPr lang="en-GB"/>
                        <a:t>256</a:t>
                      </a:r>
                    </a:p>
                  </a:txBody>
                  <a:tcPr anchor="ctr">
                    <a:lnL>
                      <a:noFill/>
                    </a:lnL>
                    <a:lnR>
                      <a:noFill/>
                    </a:lnR>
                    <a:lnT>
                      <a:noFill/>
                    </a:lnT>
                    <a:lnB>
                      <a:noFill/>
                    </a:lnB>
                    <a:noFill/>
                  </a:tcPr>
                </a:tc>
                <a:tc>
                  <a:txBody>
                    <a:bodyPr/>
                    <a:lstStyle/>
                    <a:p>
                      <a:r>
                        <a:rPr lang="en-GB"/>
                        <a:t>(256, 64, 64)</a:t>
                      </a:r>
                    </a:p>
                  </a:txBody>
                  <a:tcPr anchor="ctr">
                    <a:lnL>
                      <a:noFill/>
                    </a:lnL>
                    <a:lnR>
                      <a:noFill/>
                    </a:lnR>
                    <a:lnT>
                      <a:noFill/>
                    </a:lnT>
                    <a:lnB>
                      <a:noFill/>
                    </a:lnB>
                    <a:noFill/>
                  </a:tcPr>
                </a:tc>
                <a:extLst>
                  <a:ext uri="{0D108BD9-81ED-4DB2-BD59-A6C34878D82A}">
                    <a16:rowId xmlns:a16="http://schemas.microsoft.com/office/drawing/2014/main" val="1680962115"/>
                  </a:ext>
                </a:extLst>
              </a:tr>
              <a:tr h="0">
                <a:tc>
                  <a:txBody>
                    <a:bodyPr/>
                    <a:lstStyle/>
                    <a:p>
                      <a:r>
                        <a:rPr lang="en-GB"/>
                        <a:t>down3</a:t>
                      </a:r>
                    </a:p>
                  </a:txBody>
                  <a:tcPr anchor="ctr">
                    <a:lnL>
                      <a:noFill/>
                    </a:lnL>
                    <a:lnR>
                      <a:noFill/>
                    </a:lnR>
                    <a:lnT>
                      <a:noFill/>
                    </a:lnT>
                    <a:lnB>
                      <a:noFill/>
                    </a:lnB>
                    <a:noFill/>
                  </a:tcPr>
                </a:tc>
                <a:tc>
                  <a:txBody>
                    <a:bodyPr/>
                    <a:lstStyle/>
                    <a:p>
                      <a:r>
                        <a:rPr lang="en-GB"/>
                        <a:t>256</a:t>
                      </a:r>
                    </a:p>
                  </a:txBody>
                  <a:tcPr anchor="ctr">
                    <a:lnL>
                      <a:noFill/>
                    </a:lnL>
                    <a:lnR>
                      <a:noFill/>
                    </a:lnR>
                    <a:lnT>
                      <a:noFill/>
                    </a:lnT>
                    <a:lnB>
                      <a:noFill/>
                    </a:lnB>
                    <a:noFill/>
                  </a:tcPr>
                </a:tc>
                <a:tc>
                  <a:txBody>
                    <a:bodyPr/>
                    <a:lstStyle/>
                    <a:p>
                      <a:r>
                        <a:rPr lang="en-GB"/>
                        <a:t>512</a:t>
                      </a:r>
                    </a:p>
                  </a:txBody>
                  <a:tcPr anchor="ctr">
                    <a:lnL>
                      <a:noFill/>
                    </a:lnL>
                    <a:lnR>
                      <a:noFill/>
                    </a:lnR>
                    <a:lnT>
                      <a:noFill/>
                    </a:lnT>
                    <a:lnB>
                      <a:noFill/>
                    </a:lnB>
                    <a:noFill/>
                  </a:tcPr>
                </a:tc>
                <a:tc>
                  <a:txBody>
                    <a:bodyPr/>
                    <a:lstStyle/>
                    <a:p>
                      <a:r>
                        <a:rPr lang="en-GB"/>
                        <a:t>(512, 32, 32)</a:t>
                      </a:r>
                    </a:p>
                  </a:txBody>
                  <a:tcPr anchor="ctr">
                    <a:lnL>
                      <a:noFill/>
                    </a:lnL>
                    <a:lnR>
                      <a:noFill/>
                    </a:lnR>
                    <a:lnT>
                      <a:noFill/>
                    </a:lnT>
                    <a:lnB>
                      <a:noFill/>
                    </a:lnB>
                    <a:noFill/>
                  </a:tcPr>
                </a:tc>
                <a:extLst>
                  <a:ext uri="{0D108BD9-81ED-4DB2-BD59-A6C34878D82A}">
                    <a16:rowId xmlns:a16="http://schemas.microsoft.com/office/drawing/2014/main" val="1718534617"/>
                  </a:ext>
                </a:extLst>
              </a:tr>
              <a:tr h="0">
                <a:tc>
                  <a:txBody>
                    <a:bodyPr/>
                    <a:lstStyle/>
                    <a:p>
                      <a:r>
                        <a:rPr lang="en-GB" dirty="0"/>
                        <a:t>down4</a:t>
                      </a:r>
                    </a:p>
                  </a:txBody>
                  <a:tcPr anchor="ctr">
                    <a:lnL>
                      <a:noFill/>
                    </a:lnL>
                    <a:lnR>
                      <a:noFill/>
                    </a:lnR>
                    <a:lnT>
                      <a:noFill/>
                    </a:lnT>
                    <a:lnB>
                      <a:noFill/>
                    </a:lnB>
                    <a:noFill/>
                  </a:tcPr>
                </a:tc>
                <a:tc>
                  <a:txBody>
                    <a:bodyPr/>
                    <a:lstStyle/>
                    <a:p>
                      <a:r>
                        <a:rPr lang="en-GB" dirty="0"/>
                        <a:t>512</a:t>
                      </a:r>
                    </a:p>
                  </a:txBody>
                  <a:tcPr anchor="ctr">
                    <a:lnL>
                      <a:noFill/>
                    </a:lnL>
                    <a:lnR>
                      <a:noFill/>
                    </a:lnR>
                    <a:lnT>
                      <a:noFill/>
                    </a:lnT>
                    <a:lnB>
                      <a:noFill/>
                    </a:lnB>
                    <a:noFill/>
                  </a:tcPr>
                </a:tc>
                <a:tc>
                  <a:txBody>
                    <a:bodyPr/>
                    <a:lstStyle/>
                    <a:p>
                      <a:r>
                        <a:rPr lang="en-GB" dirty="0"/>
                        <a:t>1024 → 512</a:t>
                      </a:r>
                    </a:p>
                  </a:txBody>
                  <a:tcPr anchor="ctr">
                    <a:lnL>
                      <a:noFill/>
                    </a:lnL>
                    <a:lnR>
                      <a:noFill/>
                    </a:lnR>
                    <a:lnT>
                      <a:noFill/>
                    </a:lnT>
                    <a:lnB>
                      <a:noFill/>
                    </a:lnB>
                    <a:noFill/>
                  </a:tcPr>
                </a:tc>
                <a:tc>
                  <a:txBody>
                    <a:bodyPr/>
                    <a:lstStyle/>
                    <a:p>
                      <a:r>
                        <a:rPr lang="en-GB" dirty="0"/>
                        <a:t>(512, 16, 16)</a:t>
                      </a:r>
                    </a:p>
                  </a:txBody>
                  <a:tcPr anchor="ctr">
                    <a:lnL>
                      <a:noFill/>
                    </a:lnL>
                    <a:lnR>
                      <a:noFill/>
                    </a:lnR>
                    <a:lnT>
                      <a:noFill/>
                    </a:lnT>
                    <a:lnB>
                      <a:noFill/>
                    </a:lnB>
                    <a:noFill/>
                  </a:tcPr>
                </a:tc>
                <a:extLst>
                  <a:ext uri="{0D108BD9-81ED-4DB2-BD59-A6C34878D82A}">
                    <a16:rowId xmlns:a16="http://schemas.microsoft.com/office/drawing/2014/main" val="3920225696"/>
                  </a:ext>
                </a:extLst>
              </a:tr>
            </a:tbl>
          </a:graphicData>
        </a:graphic>
      </p:graphicFrame>
    </p:spTree>
    <p:extLst>
      <p:ext uri="{BB962C8B-B14F-4D97-AF65-F5344CB8AC3E}">
        <p14:creationId xmlns:p14="http://schemas.microsoft.com/office/powerpoint/2010/main" val="6932578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0F61B-34D7-7064-6C07-EE31A8A7865F}"/>
              </a:ext>
            </a:extLst>
          </p:cNvPr>
          <p:cNvSpPr>
            <a:spLocks noGrp="1"/>
          </p:cNvSpPr>
          <p:nvPr>
            <p:ph type="title"/>
          </p:nvPr>
        </p:nvSpPr>
        <p:spPr/>
        <p:txBody>
          <a:bodyPr/>
          <a:lstStyle/>
          <a:p>
            <a:r>
              <a:rPr lang="en-GB" dirty="0"/>
              <a:t>Model Architecture – base U-net</a:t>
            </a:r>
          </a:p>
        </p:txBody>
      </p:sp>
      <p:sp>
        <p:nvSpPr>
          <p:cNvPr id="3" name="Content Placeholder 2">
            <a:extLst>
              <a:ext uri="{FF2B5EF4-FFF2-40B4-BE49-F238E27FC236}">
                <a16:creationId xmlns:a16="http://schemas.microsoft.com/office/drawing/2014/main" id="{E8C16099-EEEB-71A1-833D-AF1B82905F22}"/>
              </a:ext>
            </a:extLst>
          </p:cNvPr>
          <p:cNvSpPr>
            <a:spLocks noGrp="1"/>
          </p:cNvSpPr>
          <p:nvPr>
            <p:ph idx="1"/>
          </p:nvPr>
        </p:nvSpPr>
        <p:spPr/>
        <p:txBody>
          <a:bodyPr/>
          <a:lstStyle/>
          <a:p>
            <a:r>
              <a:rPr lang="en-US" dirty="0"/>
              <a:t>Bottleneck</a:t>
            </a:r>
          </a:p>
          <a:p>
            <a:pPr lvl="1"/>
            <a:r>
              <a:rPr lang="en-US" dirty="0"/>
              <a:t>After down4, hit deepest feature level - (512, 16, 16)</a:t>
            </a:r>
          </a:p>
          <a:p>
            <a:endParaRPr lang="en-US" dirty="0"/>
          </a:p>
          <a:p>
            <a:r>
              <a:rPr lang="en-US" dirty="0"/>
              <a:t>Decoder</a:t>
            </a:r>
          </a:p>
          <a:p>
            <a:pPr lvl="1"/>
            <a:r>
              <a:rPr lang="en-US" dirty="0"/>
              <a:t>Each up uses bilinear up sampling + double conv</a:t>
            </a:r>
          </a:p>
          <a:p>
            <a:pPr lvl="1"/>
            <a:endParaRPr lang="en-US" dirty="0"/>
          </a:p>
          <a:p>
            <a:endParaRPr lang="en-GB" dirty="0"/>
          </a:p>
        </p:txBody>
      </p:sp>
      <p:graphicFrame>
        <p:nvGraphicFramePr>
          <p:cNvPr id="4" name="Table 3">
            <a:extLst>
              <a:ext uri="{FF2B5EF4-FFF2-40B4-BE49-F238E27FC236}">
                <a16:creationId xmlns:a16="http://schemas.microsoft.com/office/drawing/2014/main" id="{1202C3FE-0629-CDBC-2782-03B19870414A}"/>
              </a:ext>
            </a:extLst>
          </p:cNvPr>
          <p:cNvGraphicFramePr>
            <a:graphicFrameLocks noGrp="1"/>
          </p:cNvGraphicFramePr>
          <p:nvPr>
            <p:extLst>
              <p:ext uri="{D42A27DB-BD31-4B8C-83A1-F6EECF244321}">
                <p14:modId xmlns:p14="http://schemas.microsoft.com/office/powerpoint/2010/main" val="1262634161"/>
              </p:ext>
            </p:extLst>
          </p:nvPr>
        </p:nvGraphicFramePr>
        <p:xfrm>
          <a:off x="1076458" y="4265312"/>
          <a:ext cx="10515600" cy="1828800"/>
        </p:xfrm>
        <a:graphic>
          <a:graphicData uri="http://schemas.openxmlformats.org/drawingml/2006/table">
            <a:tbl>
              <a:tblPr/>
              <a:tblGrid>
                <a:gridCol w="2628900">
                  <a:extLst>
                    <a:ext uri="{9D8B030D-6E8A-4147-A177-3AD203B41FA5}">
                      <a16:colId xmlns:a16="http://schemas.microsoft.com/office/drawing/2014/main" val="2234428849"/>
                    </a:ext>
                  </a:extLst>
                </a:gridCol>
                <a:gridCol w="2628900">
                  <a:extLst>
                    <a:ext uri="{9D8B030D-6E8A-4147-A177-3AD203B41FA5}">
                      <a16:colId xmlns:a16="http://schemas.microsoft.com/office/drawing/2014/main" val="3405671260"/>
                    </a:ext>
                  </a:extLst>
                </a:gridCol>
                <a:gridCol w="2628900">
                  <a:extLst>
                    <a:ext uri="{9D8B030D-6E8A-4147-A177-3AD203B41FA5}">
                      <a16:colId xmlns:a16="http://schemas.microsoft.com/office/drawing/2014/main" val="71445170"/>
                    </a:ext>
                  </a:extLst>
                </a:gridCol>
                <a:gridCol w="2628900">
                  <a:extLst>
                    <a:ext uri="{9D8B030D-6E8A-4147-A177-3AD203B41FA5}">
                      <a16:colId xmlns:a16="http://schemas.microsoft.com/office/drawing/2014/main" val="62507630"/>
                    </a:ext>
                  </a:extLst>
                </a:gridCol>
              </a:tblGrid>
              <a:tr h="0">
                <a:tc>
                  <a:txBody>
                    <a:bodyPr/>
                    <a:lstStyle/>
                    <a:p>
                      <a:r>
                        <a:rPr lang="en-GB" b="1" dirty="0"/>
                        <a:t>Layer</a:t>
                      </a:r>
                    </a:p>
                  </a:txBody>
                  <a:tcPr anchor="ctr">
                    <a:lnL>
                      <a:noFill/>
                    </a:lnL>
                    <a:lnR>
                      <a:noFill/>
                    </a:lnR>
                    <a:lnT>
                      <a:noFill/>
                    </a:lnT>
                    <a:lnB>
                      <a:noFill/>
                    </a:lnB>
                    <a:noFill/>
                  </a:tcPr>
                </a:tc>
                <a:tc>
                  <a:txBody>
                    <a:bodyPr/>
                    <a:lstStyle/>
                    <a:p>
                      <a:r>
                        <a:rPr lang="en-GB" b="1" dirty="0"/>
                        <a:t>Skip Connection</a:t>
                      </a:r>
                    </a:p>
                  </a:txBody>
                  <a:tcPr anchor="ctr">
                    <a:lnL>
                      <a:noFill/>
                    </a:lnL>
                    <a:lnR>
                      <a:noFill/>
                    </a:lnR>
                    <a:lnT>
                      <a:noFill/>
                    </a:lnT>
                    <a:lnB>
                      <a:noFill/>
                    </a:lnB>
                    <a:noFill/>
                  </a:tcPr>
                </a:tc>
                <a:tc>
                  <a:txBody>
                    <a:bodyPr/>
                    <a:lstStyle/>
                    <a:p>
                      <a:r>
                        <a:rPr lang="en-GB" b="1"/>
                        <a:t>Output Channels</a:t>
                      </a:r>
                    </a:p>
                  </a:txBody>
                  <a:tcPr anchor="ctr">
                    <a:lnL>
                      <a:noFill/>
                    </a:lnL>
                    <a:lnR>
                      <a:noFill/>
                    </a:lnR>
                    <a:lnT>
                      <a:noFill/>
                    </a:lnT>
                    <a:lnB>
                      <a:noFill/>
                    </a:lnB>
                    <a:noFill/>
                  </a:tcPr>
                </a:tc>
                <a:tc>
                  <a:txBody>
                    <a:bodyPr/>
                    <a:lstStyle/>
                    <a:p>
                      <a:r>
                        <a:rPr lang="en-GB" b="1" dirty="0"/>
                        <a:t>Output Size</a:t>
                      </a:r>
                    </a:p>
                  </a:txBody>
                  <a:tcPr anchor="ctr">
                    <a:lnL>
                      <a:noFill/>
                    </a:lnL>
                    <a:lnR>
                      <a:noFill/>
                    </a:lnR>
                    <a:lnT>
                      <a:noFill/>
                    </a:lnT>
                    <a:lnB>
                      <a:noFill/>
                    </a:lnB>
                    <a:noFill/>
                  </a:tcPr>
                </a:tc>
                <a:extLst>
                  <a:ext uri="{0D108BD9-81ED-4DB2-BD59-A6C34878D82A}">
                    <a16:rowId xmlns:a16="http://schemas.microsoft.com/office/drawing/2014/main" val="3427502876"/>
                  </a:ext>
                </a:extLst>
              </a:tr>
              <a:tr h="0">
                <a:tc>
                  <a:txBody>
                    <a:bodyPr/>
                    <a:lstStyle/>
                    <a:p>
                      <a:r>
                        <a:rPr lang="en-GB" dirty="0"/>
                        <a:t>up1</a:t>
                      </a:r>
                    </a:p>
                  </a:txBody>
                  <a:tcPr anchor="ctr">
                    <a:lnL>
                      <a:noFill/>
                    </a:lnL>
                    <a:lnR>
                      <a:noFill/>
                    </a:lnR>
                    <a:lnT>
                      <a:noFill/>
                    </a:lnT>
                    <a:lnB>
                      <a:noFill/>
                    </a:lnB>
                    <a:noFill/>
                  </a:tcPr>
                </a:tc>
                <a:tc>
                  <a:txBody>
                    <a:bodyPr/>
                    <a:lstStyle/>
                    <a:p>
                      <a:r>
                        <a:rPr lang="en-GB" dirty="0"/>
                        <a:t>from down3</a:t>
                      </a:r>
                    </a:p>
                  </a:txBody>
                  <a:tcPr anchor="ctr">
                    <a:lnL>
                      <a:noFill/>
                    </a:lnL>
                    <a:lnR>
                      <a:noFill/>
                    </a:lnR>
                    <a:lnT>
                      <a:noFill/>
                    </a:lnT>
                    <a:lnB>
                      <a:noFill/>
                    </a:lnB>
                    <a:noFill/>
                  </a:tcPr>
                </a:tc>
                <a:tc>
                  <a:txBody>
                    <a:bodyPr/>
                    <a:lstStyle/>
                    <a:p>
                      <a:r>
                        <a:rPr lang="en-GB"/>
                        <a:t>256</a:t>
                      </a:r>
                    </a:p>
                  </a:txBody>
                  <a:tcPr anchor="ctr">
                    <a:lnL>
                      <a:noFill/>
                    </a:lnL>
                    <a:lnR>
                      <a:noFill/>
                    </a:lnR>
                    <a:lnT>
                      <a:noFill/>
                    </a:lnT>
                    <a:lnB>
                      <a:noFill/>
                    </a:lnB>
                    <a:noFill/>
                  </a:tcPr>
                </a:tc>
                <a:tc>
                  <a:txBody>
                    <a:bodyPr/>
                    <a:lstStyle/>
                    <a:p>
                      <a:r>
                        <a:rPr lang="en-GB"/>
                        <a:t>(256, 32, 32)</a:t>
                      </a:r>
                    </a:p>
                  </a:txBody>
                  <a:tcPr anchor="ctr">
                    <a:lnL>
                      <a:noFill/>
                    </a:lnL>
                    <a:lnR>
                      <a:noFill/>
                    </a:lnR>
                    <a:lnT>
                      <a:noFill/>
                    </a:lnT>
                    <a:lnB>
                      <a:noFill/>
                    </a:lnB>
                    <a:noFill/>
                  </a:tcPr>
                </a:tc>
                <a:extLst>
                  <a:ext uri="{0D108BD9-81ED-4DB2-BD59-A6C34878D82A}">
                    <a16:rowId xmlns:a16="http://schemas.microsoft.com/office/drawing/2014/main" val="1746429815"/>
                  </a:ext>
                </a:extLst>
              </a:tr>
              <a:tr h="0">
                <a:tc>
                  <a:txBody>
                    <a:bodyPr/>
                    <a:lstStyle/>
                    <a:p>
                      <a:r>
                        <a:rPr lang="en-GB"/>
                        <a:t>up2</a:t>
                      </a:r>
                    </a:p>
                  </a:txBody>
                  <a:tcPr anchor="ctr">
                    <a:lnL>
                      <a:noFill/>
                    </a:lnL>
                    <a:lnR>
                      <a:noFill/>
                    </a:lnR>
                    <a:lnT>
                      <a:noFill/>
                    </a:lnT>
                    <a:lnB>
                      <a:noFill/>
                    </a:lnB>
                    <a:noFill/>
                  </a:tcPr>
                </a:tc>
                <a:tc>
                  <a:txBody>
                    <a:bodyPr/>
                    <a:lstStyle/>
                    <a:p>
                      <a:r>
                        <a:rPr lang="en-GB"/>
                        <a:t>from down2</a:t>
                      </a:r>
                    </a:p>
                  </a:txBody>
                  <a:tcPr anchor="ctr">
                    <a:lnL>
                      <a:noFill/>
                    </a:lnL>
                    <a:lnR>
                      <a:noFill/>
                    </a:lnR>
                    <a:lnT>
                      <a:noFill/>
                    </a:lnT>
                    <a:lnB>
                      <a:noFill/>
                    </a:lnB>
                    <a:noFill/>
                  </a:tcPr>
                </a:tc>
                <a:tc>
                  <a:txBody>
                    <a:bodyPr/>
                    <a:lstStyle/>
                    <a:p>
                      <a:r>
                        <a:rPr lang="en-GB"/>
                        <a:t>128</a:t>
                      </a:r>
                    </a:p>
                  </a:txBody>
                  <a:tcPr anchor="ctr">
                    <a:lnL>
                      <a:noFill/>
                    </a:lnL>
                    <a:lnR>
                      <a:noFill/>
                    </a:lnR>
                    <a:lnT>
                      <a:noFill/>
                    </a:lnT>
                    <a:lnB>
                      <a:noFill/>
                    </a:lnB>
                    <a:noFill/>
                  </a:tcPr>
                </a:tc>
                <a:tc>
                  <a:txBody>
                    <a:bodyPr/>
                    <a:lstStyle/>
                    <a:p>
                      <a:r>
                        <a:rPr lang="en-GB"/>
                        <a:t>(128, 64, 64)</a:t>
                      </a:r>
                    </a:p>
                  </a:txBody>
                  <a:tcPr anchor="ctr">
                    <a:lnL>
                      <a:noFill/>
                    </a:lnL>
                    <a:lnR>
                      <a:noFill/>
                    </a:lnR>
                    <a:lnT>
                      <a:noFill/>
                    </a:lnT>
                    <a:lnB>
                      <a:noFill/>
                    </a:lnB>
                    <a:noFill/>
                  </a:tcPr>
                </a:tc>
                <a:extLst>
                  <a:ext uri="{0D108BD9-81ED-4DB2-BD59-A6C34878D82A}">
                    <a16:rowId xmlns:a16="http://schemas.microsoft.com/office/drawing/2014/main" val="988255571"/>
                  </a:ext>
                </a:extLst>
              </a:tr>
              <a:tr h="0">
                <a:tc>
                  <a:txBody>
                    <a:bodyPr/>
                    <a:lstStyle/>
                    <a:p>
                      <a:r>
                        <a:rPr lang="en-GB"/>
                        <a:t>up3</a:t>
                      </a:r>
                    </a:p>
                  </a:txBody>
                  <a:tcPr anchor="ctr">
                    <a:lnL>
                      <a:noFill/>
                    </a:lnL>
                    <a:lnR>
                      <a:noFill/>
                    </a:lnR>
                    <a:lnT>
                      <a:noFill/>
                    </a:lnT>
                    <a:lnB>
                      <a:noFill/>
                    </a:lnB>
                    <a:noFill/>
                  </a:tcPr>
                </a:tc>
                <a:tc>
                  <a:txBody>
                    <a:bodyPr/>
                    <a:lstStyle/>
                    <a:p>
                      <a:r>
                        <a:rPr lang="en-GB"/>
                        <a:t>from down1</a:t>
                      </a:r>
                    </a:p>
                  </a:txBody>
                  <a:tcPr anchor="ctr">
                    <a:lnL>
                      <a:noFill/>
                    </a:lnL>
                    <a:lnR>
                      <a:noFill/>
                    </a:lnR>
                    <a:lnT>
                      <a:noFill/>
                    </a:lnT>
                    <a:lnB>
                      <a:noFill/>
                    </a:lnB>
                    <a:noFill/>
                  </a:tcPr>
                </a:tc>
                <a:tc>
                  <a:txBody>
                    <a:bodyPr/>
                    <a:lstStyle/>
                    <a:p>
                      <a:r>
                        <a:rPr lang="en-GB"/>
                        <a:t>64</a:t>
                      </a:r>
                    </a:p>
                  </a:txBody>
                  <a:tcPr anchor="ctr">
                    <a:lnL>
                      <a:noFill/>
                    </a:lnL>
                    <a:lnR>
                      <a:noFill/>
                    </a:lnR>
                    <a:lnT>
                      <a:noFill/>
                    </a:lnT>
                    <a:lnB>
                      <a:noFill/>
                    </a:lnB>
                    <a:noFill/>
                  </a:tcPr>
                </a:tc>
                <a:tc>
                  <a:txBody>
                    <a:bodyPr/>
                    <a:lstStyle/>
                    <a:p>
                      <a:r>
                        <a:rPr lang="en-GB"/>
                        <a:t>(64, 128, 128)</a:t>
                      </a:r>
                    </a:p>
                  </a:txBody>
                  <a:tcPr anchor="ctr">
                    <a:lnL>
                      <a:noFill/>
                    </a:lnL>
                    <a:lnR>
                      <a:noFill/>
                    </a:lnR>
                    <a:lnT>
                      <a:noFill/>
                    </a:lnT>
                    <a:lnB>
                      <a:noFill/>
                    </a:lnB>
                    <a:noFill/>
                  </a:tcPr>
                </a:tc>
                <a:extLst>
                  <a:ext uri="{0D108BD9-81ED-4DB2-BD59-A6C34878D82A}">
                    <a16:rowId xmlns:a16="http://schemas.microsoft.com/office/drawing/2014/main" val="1341392875"/>
                  </a:ext>
                </a:extLst>
              </a:tr>
              <a:tr h="0">
                <a:tc>
                  <a:txBody>
                    <a:bodyPr/>
                    <a:lstStyle/>
                    <a:p>
                      <a:r>
                        <a:rPr lang="en-GB"/>
                        <a:t>up4</a:t>
                      </a:r>
                    </a:p>
                  </a:txBody>
                  <a:tcPr anchor="ctr">
                    <a:lnL>
                      <a:noFill/>
                    </a:lnL>
                    <a:lnR>
                      <a:noFill/>
                    </a:lnR>
                    <a:lnT>
                      <a:noFill/>
                    </a:lnT>
                    <a:lnB>
                      <a:noFill/>
                    </a:lnB>
                    <a:noFill/>
                  </a:tcPr>
                </a:tc>
                <a:tc>
                  <a:txBody>
                    <a:bodyPr/>
                    <a:lstStyle/>
                    <a:p>
                      <a:r>
                        <a:rPr lang="en-GB"/>
                        <a:t>from inc</a:t>
                      </a:r>
                    </a:p>
                  </a:txBody>
                  <a:tcPr anchor="ctr">
                    <a:lnL>
                      <a:noFill/>
                    </a:lnL>
                    <a:lnR>
                      <a:noFill/>
                    </a:lnR>
                    <a:lnT>
                      <a:noFill/>
                    </a:lnT>
                    <a:lnB>
                      <a:noFill/>
                    </a:lnB>
                    <a:noFill/>
                  </a:tcPr>
                </a:tc>
                <a:tc>
                  <a:txBody>
                    <a:bodyPr/>
                    <a:lstStyle/>
                    <a:p>
                      <a:r>
                        <a:rPr lang="en-GB"/>
                        <a:t>64</a:t>
                      </a:r>
                    </a:p>
                  </a:txBody>
                  <a:tcPr anchor="ctr">
                    <a:lnL>
                      <a:noFill/>
                    </a:lnL>
                    <a:lnR>
                      <a:noFill/>
                    </a:lnR>
                    <a:lnT>
                      <a:noFill/>
                    </a:lnT>
                    <a:lnB>
                      <a:noFill/>
                    </a:lnB>
                    <a:noFill/>
                  </a:tcPr>
                </a:tc>
                <a:tc>
                  <a:txBody>
                    <a:bodyPr/>
                    <a:lstStyle/>
                    <a:p>
                      <a:r>
                        <a:rPr lang="en-GB" dirty="0"/>
                        <a:t>(64, 256, 256)</a:t>
                      </a:r>
                    </a:p>
                  </a:txBody>
                  <a:tcPr anchor="ctr">
                    <a:lnL>
                      <a:noFill/>
                    </a:lnL>
                    <a:lnR>
                      <a:noFill/>
                    </a:lnR>
                    <a:lnT>
                      <a:noFill/>
                    </a:lnT>
                    <a:lnB>
                      <a:noFill/>
                    </a:lnB>
                    <a:noFill/>
                  </a:tcPr>
                </a:tc>
                <a:extLst>
                  <a:ext uri="{0D108BD9-81ED-4DB2-BD59-A6C34878D82A}">
                    <a16:rowId xmlns:a16="http://schemas.microsoft.com/office/drawing/2014/main" val="3409244770"/>
                  </a:ext>
                </a:extLst>
              </a:tr>
            </a:tbl>
          </a:graphicData>
        </a:graphic>
      </p:graphicFrame>
    </p:spTree>
    <p:extLst>
      <p:ext uri="{BB962C8B-B14F-4D97-AF65-F5344CB8AC3E}">
        <p14:creationId xmlns:p14="http://schemas.microsoft.com/office/powerpoint/2010/main" val="36631213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E57B3-FBE9-2D73-2AC2-1EF93E738660}"/>
              </a:ext>
            </a:extLst>
          </p:cNvPr>
          <p:cNvSpPr>
            <a:spLocks noGrp="1"/>
          </p:cNvSpPr>
          <p:nvPr>
            <p:ph type="title"/>
          </p:nvPr>
        </p:nvSpPr>
        <p:spPr/>
        <p:txBody>
          <a:bodyPr/>
          <a:lstStyle/>
          <a:p>
            <a:r>
              <a:rPr lang="en-GB" dirty="0"/>
              <a:t>Model Architecture – base U-net</a:t>
            </a:r>
          </a:p>
        </p:txBody>
      </p:sp>
      <p:sp>
        <p:nvSpPr>
          <p:cNvPr id="3" name="Content Placeholder 2">
            <a:extLst>
              <a:ext uri="{FF2B5EF4-FFF2-40B4-BE49-F238E27FC236}">
                <a16:creationId xmlns:a16="http://schemas.microsoft.com/office/drawing/2014/main" id="{A8CFA5C1-D3C5-A989-BD13-8737BF1D2BC8}"/>
              </a:ext>
            </a:extLst>
          </p:cNvPr>
          <p:cNvSpPr>
            <a:spLocks noGrp="1"/>
          </p:cNvSpPr>
          <p:nvPr>
            <p:ph idx="1"/>
          </p:nvPr>
        </p:nvSpPr>
        <p:spPr>
          <a:xfrm>
            <a:off x="838200" y="1825625"/>
            <a:ext cx="10515600" cy="4749040"/>
          </a:xfrm>
        </p:spPr>
        <p:txBody>
          <a:bodyPr>
            <a:normAutofit/>
          </a:bodyPr>
          <a:lstStyle/>
          <a:p>
            <a:r>
              <a:rPr lang="en-US" dirty="0"/>
              <a:t>Output</a:t>
            </a:r>
          </a:p>
          <a:p>
            <a:pPr lvl="1"/>
            <a:r>
              <a:rPr lang="en-GB" dirty="0"/>
              <a:t>Output layer</a:t>
            </a:r>
          </a:p>
          <a:p>
            <a:pPr lvl="1"/>
            <a:endParaRPr lang="en-GB" dirty="0"/>
          </a:p>
          <a:p>
            <a:pPr lvl="1"/>
            <a:endParaRPr lang="en-GB" dirty="0"/>
          </a:p>
          <a:p>
            <a:pPr lvl="1"/>
            <a:endParaRPr lang="en-GB" dirty="0"/>
          </a:p>
          <a:p>
            <a:r>
              <a:rPr lang="en-GB" dirty="0"/>
              <a:t>Summary </a:t>
            </a:r>
          </a:p>
          <a:p>
            <a:pPr lvl="1"/>
            <a:r>
              <a:rPr lang="en-GB" dirty="0"/>
              <a:t>Total Depth: 5 levels</a:t>
            </a:r>
          </a:p>
          <a:p>
            <a:pPr lvl="1"/>
            <a:r>
              <a:rPr lang="en-GB" dirty="0"/>
              <a:t>Activation: </a:t>
            </a:r>
            <a:r>
              <a:rPr lang="en-GB" dirty="0" err="1"/>
              <a:t>ReLu</a:t>
            </a:r>
            <a:endParaRPr lang="en-GB" dirty="0"/>
          </a:p>
          <a:p>
            <a:pPr lvl="1"/>
            <a:r>
              <a:rPr lang="en-GB" dirty="0"/>
              <a:t>Normalization: BatchNorm2d</a:t>
            </a:r>
          </a:p>
          <a:p>
            <a:pPr lvl="1"/>
            <a:r>
              <a:rPr lang="en-GB" dirty="0" err="1"/>
              <a:t>UpSampling</a:t>
            </a:r>
            <a:r>
              <a:rPr lang="en-GB" dirty="0"/>
              <a:t>: Bilinear </a:t>
            </a:r>
          </a:p>
          <a:p>
            <a:pPr lvl="1"/>
            <a:r>
              <a:rPr lang="en-GB" dirty="0"/>
              <a:t>Final output: 1-channel logit map</a:t>
            </a:r>
          </a:p>
        </p:txBody>
      </p:sp>
      <p:graphicFrame>
        <p:nvGraphicFramePr>
          <p:cNvPr id="4" name="Table 3">
            <a:extLst>
              <a:ext uri="{FF2B5EF4-FFF2-40B4-BE49-F238E27FC236}">
                <a16:creationId xmlns:a16="http://schemas.microsoft.com/office/drawing/2014/main" id="{97D8555E-05D4-87F8-2883-71A171FB574D}"/>
              </a:ext>
            </a:extLst>
          </p:cNvPr>
          <p:cNvGraphicFramePr>
            <a:graphicFrameLocks noGrp="1"/>
          </p:cNvGraphicFramePr>
          <p:nvPr>
            <p:extLst>
              <p:ext uri="{D42A27DB-BD31-4B8C-83A1-F6EECF244321}">
                <p14:modId xmlns:p14="http://schemas.microsoft.com/office/powerpoint/2010/main" val="260876891"/>
              </p:ext>
            </p:extLst>
          </p:nvPr>
        </p:nvGraphicFramePr>
        <p:xfrm>
          <a:off x="1044262" y="2753331"/>
          <a:ext cx="10515600" cy="731520"/>
        </p:xfrm>
        <a:graphic>
          <a:graphicData uri="http://schemas.openxmlformats.org/drawingml/2006/table">
            <a:tbl>
              <a:tblPr/>
              <a:tblGrid>
                <a:gridCol w="2628900">
                  <a:extLst>
                    <a:ext uri="{9D8B030D-6E8A-4147-A177-3AD203B41FA5}">
                      <a16:colId xmlns:a16="http://schemas.microsoft.com/office/drawing/2014/main" val="161077446"/>
                    </a:ext>
                  </a:extLst>
                </a:gridCol>
                <a:gridCol w="2628900">
                  <a:extLst>
                    <a:ext uri="{9D8B030D-6E8A-4147-A177-3AD203B41FA5}">
                      <a16:colId xmlns:a16="http://schemas.microsoft.com/office/drawing/2014/main" val="160869625"/>
                    </a:ext>
                  </a:extLst>
                </a:gridCol>
                <a:gridCol w="2628900">
                  <a:extLst>
                    <a:ext uri="{9D8B030D-6E8A-4147-A177-3AD203B41FA5}">
                      <a16:colId xmlns:a16="http://schemas.microsoft.com/office/drawing/2014/main" val="3545149377"/>
                    </a:ext>
                  </a:extLst>
                </a:gridCol>
                <a:gridCol w="2628900">
                  <a:extLst>
                    <a:ext uri="{9D8B030D-6E8A-4147-A177-3AD203B41FA5}">
                      <a16:colId xmlns:a16="http://schemas.microsoft.com/office/drawing/2014/main" val="3017137167"/>
                    </a:ext>
                  </a:extLst>
                </a:gridCol>
              </a:tblGrid>
              <a:tr h="0">
                <a:tc>
                  <a:txBody>
                    <a:bodyPr/>
                    <a:lstStyle/>
                    <a:p>
                      <a:r>
                        <a:rPr lang="en-GB" b="1" dirty="0"/>
                        <a:t>Layer</a:t>
                      </a:r>
                    </a:p>
                  </a:txBody>
                  <a:tcPr anchor="ctr">
                    <a:lnL>
                      <a:noFill/>
                    </a:lnL>
                    <a:lnR>
                      <a:noFill/>
                    </a:lnR>
                    <a:lnT>
                      <a:noFill/>
                    </a:lnT>
                    <a:lnB>
                      <a:noFill/>
                    </a:lnB>
                    <a:noFill/>
                  </a:tcPr>
                </a:tc>
                <a:tc>
                  <a:txBody>
                    <a:bodyPr/>
                    <a:lstStyle/>
                    <a:p>
                      <a:r>
                        <a:rPr lang="en-GB" b="1" dirty="0"/>
                        <a:t>Input Channels</a:t>
                      </a:r>
                    </a:p>
                  </a:txBody>
                  <a:tcPr anchor="ctr">
                    <a:lnL>
                      <a:noFill/>
                    </a:lnL>
                    <a:lnR>
                      <a:noFill/>
                    </a:lnR>
                    <a:lnT>
                      <a:noFill/>
                    </a:lnT>
                    <a:lnB>
                      <a:noFill/>
                    </a:lnB>
                    <a:noFill/>
                  </a:tcPr>
                </a:tc>
                <a:tc>
                  <a:txBody>
                    <a:bodyPr/>
                    <a:lstStyle/>
                    <a:p>
                      <a:r>
                        <a:rPr lang="en-GB" b="1" dirty="0"/>
                        <a:t>Output Channels</a:t>
                      </a:r>
                    </a:p>
                  </a:txBody>
                  <a:tcPr anchor="ctr">
                    <a:lnL>
                      <a:noFill/>
                    </a:lnL>
                    <a:lnR>
                      <a:noFill/>
                    </a:lnR>
                    <a:lnT>
                      <a:noFill/>
                    </a:lnT>
                    <a:lnB>
                      <a:noFill/>
                    </a:lnB>
                    <a:noFill/>
                  </a:tcPr>
                </a:tc>
                <a:tc>
                  <a:txBody>
                    <a:bodyPr/>
                    <a:lstStyle/>
                    <a:p>
                      <a:r>
                        <a:rPr lang="en-GB" b="1" dirty="0"/>
                        <a:t>Output Shape</a:t>
                      </a:r>
                    </a:p>
                  </a:txBody>
                  <a:tcPr anchor="ctr">
                    <a:lnL>
                      <a:noFill/>
                    </a:lnL>
                    <a:lnR>
                      <a:noFill/>
                    </a:lnR>
                    <a:lnT>
                      <a:noFill/>
                    </a:lnT>
                    <a:lnB>
                      <a:noFill/>
                    </a:lnB>
                    <a:noFill/>
                  </a:tcPr>
                </a:tc>
                <a:extLst>
                  <a:ext uri="{0D108BD9-81ED-4DB2-BD59-A6C34878D82A}">
                    <a16:rowId xmlns:a16="http://schemas.microsoft.com/office/drawing/2014/main" val="3056947336"/>
                  </a:ext>
                </a:extLst>
              </a:tr>
              <a:tr h="0">
                <a:tc>
                  <a:txBody>
                    <a:bodyPr/>
                    <a:lstStyle/>
                    <a:p>
                      <a:r>
                        <a:rPr lang="en-GB"/>
                        <a:t>outc</a:t>
                      </a:r>
                    </a:p>
                  </a:txBody>
                  <a:tcPr anchor="ctr">
                    <a:lnL>
                      <a:noFill/>
                    </a:lnL>
                    <a:lnR>
                      <a:noFill/>
                    </a:lnR>
                    <a:lnT>
                      <a:noFill/>
                    </a:lnT>
                    <a:lnB>
                      <a:noFill/>
                    </a:lnB>
                    <a:noFill/>
                  </a:tcPr>
                </a:tc>
                <a:tc>
                  <a:txBody>
                    <a:bodyPr/>
                    <a:lstStyle/>
                    <a:p>
                      <a:r>
                        <a:rPr lang="en-GB"/>
                        <a:t>64</a:t>
                      </a:r>
                    </a:p>
                  </a:txBody>
                  <a:tcPr anchor="ctr">
                    <a:lnL>
                      <a:noFill/>
                    </a:lnL>
                    <a:lnR>
                      <a:noFill/>
                    </a:lnR>
                    <a:lnT>
                      <a:noFill/>
                    </a:lnT>
                    <a:lnB>
                      <a:noFill/>
                    </a:lnB>
                    <a:noFill/>
                  </a:tcPr>
                </a:tc>
                <a:tc>
                  <a:txBody>
                    <a:bodyPr/>
                    <a:lstStyle/>
                    <a:p>
                      <a:r>
                        <a:rPr lang="en-GB"/>
                        <a:t>1</a:t>
                      </a:r>
                    </a:p>
                  </a:txBody>
                  <a:tcPr anchor="ctr">
                    <a:lnL>
                      <a:noFill/>
                    </a:lnL>
                    <a:lnR>
                      <a:noFill/>
                    </a:lnR>
                    <a:lnT>
                      <a:noFill/>
                    </a:lnT>
                    <a:lnB>
                      <a:noFill/>
                    </a:lnB>
                    <a:noFill/>
                  </a:tcPr>
                </a:tc>
                <a:tc>
                  <a:txBody>
                    <a:bodyPr/>
                    <a:lstStyle/>
                    <a:p>
                      <a:r>
                        <a:rPr lang="en-GB" dirty="0"/>
                        <a:t>(1, 256, 256)</a:t>
                      </a:r>
                    </a:p>
                  </a:txBody>
                  <a:tcPr anchor="ctr">
                    <a:lnL>
                      <a:noFill/>
                    </a:lnL>
                    <a:lnR>
                      <a:noFill/>
                    </a:lnR>
                    <a:lnT>
                      <a:noFill/>
                    </a:lnT>
                    <a:lnB>
                      <a:noFill/>
                    </a:lnB>
                    <a:noFill/>
                  </a:tcPr>
                </a:tc>
                <a:extLst>
                  <a:ext uri="{0D108BD9-81ED-4DB2-BD59-A6C34878D82A}">
                    <a16:rowId xmlns:a16="http://schemas.microsoft.com/office/drawing/2014/main" val="2480301058"/>
                  </a:ext>
                </a:extLst>
              </a:tr>
            </a:tbl>
          </a:graphicData>
        </a:graphic>
      </p:graphicFrame>
    </p:spTree>
    <p:extLst>
      <p:ext uri="{BB962C8B-B14F-4D97-AF65-F5344CB8AC3E}">
        <p14:creationId xmlns:p14="http://schemas.microsoft.com/office/powerpoint/2010/main" val="1424612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95FCA-E573-2668-A029-00ED685AC240}"/>
              </a:ext>
            </a:extLst>
          </p:cNvPr>
          <p:cNvSpPr>
            <a:spLocks noGrp="1"/>
          </p:cNvSpPr>
          <p:nvPr>
            <p:ph type="title"/>
          </p:nvPr>
        </p:nvSpPr>
        <p:spPr/>
        <p:txBody>
          <a:bodyPr/>
          <a:lstStyle/>
          <a:p>
            <a:r>
              <a:rPr lang="en-GB" dirty="0"/>
              <a:t>Model Architecture – base U-net</a:t>
            </a:r>
          </a:p>
        </p:txBody>
      </p:sp>
      <p:sp>
        <p:nvSpPr>
          <p:cNvPr id="3" name="Content Placeholder 2">
            <a:extLst>
              <a:ext uri="{FF2B5EF4-FFF2-40B4-BE49-F238E27FC236}">
                <a16:creationId xmlns:a16="http://schemas.microsoft.com/office/drawing/2014/main" id="{7395BF68-B4B1-D0E5-C878-E177264ACCC2}"/>
              </a:ext>
            </a:extLst>
          </p:cNvPr>
          <p:cNvSpPr>
            <a:spLocks noGrp="1"/>
          </p:cNvSpPr>
          <p:nvPr>
            <p:ph idx="1"/>
          </p:nvPr>
        </p:nvSpPr>
        <p:spPr/>
        <p:txBody>
          <a:bodyPr/>
          <a:lstStyle/>
          <a:p>
            <a:r>
              <a:rPr lang="en-US" dirty="0" err="1"/>
              <a:t>Unet</a:t>
            </a:r>
            <a:r>
              <a:rPr lang="en-US" dirty="0"/>
              <a:t> Class defined</a:t>
            </a:r>
            <a:endParaRPr lang="en-GB" dirty="0"/>
          </a:p>
        </p:txBody>
      </p:sp>
      <p:pic>
        <p:nvPicPr>
          <p:cNvPr id="5" name="Picture 4">
            <a:extLst>
              <a:ext uri="{FF2B5EF4-FFF2-40B4-BE49-F238E27FC236}">
                <a16:creationId xmlns:a16="http://schemas.microsoft.com/office/drawing/2014/main" id="{2FC74B8C-3C53-0975-48F3-8303DEE50B5F}"/>
              </a:ext>
            </a:extLst>
          </p:cNvPr>
          <p:cNvPicPr>
            <a:picLocks noChangeAspect="1"/>
          </p:cNvPicPr>
          <p:nvPr/>
        </p:nvPicPr>
        <p:blipFill>
          <a:blip r:embed="rId2"/>
          <a:stretch>
            <a:fillRect/>
          </a:stretch>
        </p:blipFill>
        <p:spPr>
          <a:xfrm>
            <a:off x="1189888" y="2305318"/>
            <a:ext cx="4001282" cy="3765527"/>
          </a:xfrm>
          <a:prstGeom prst="rect">
            <a:avLst/>
          </a:prstGeom>
        </p:spPr>
      </p:pic>
    </p:spTree>
    <p:extLst>
      <p:ext uri="{BB962C8B-B14F-4D97-AF65-F5344CB8AC3E}">
        <p14:creationId xmlns:p14="http://schemas.microsoft.com/office/powerpoint/2010/main" val="22695262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4121B-5FDB-BF38-4869-017E3C054EF0}"/>
              </a:ext>
            </a:extLst>
          </p:cNvPr>
          <p:cNvSpPr>
            <a:spLocks noGrp="1"/>
          </p:cNvSpPr>
          <p:nvPr>
            <p:ph type="title"/>
          </p:nvPr>
        </p:nvSpPr>
        <p:spPr/>
        <p:txBody>
          <a:bodyPr/>
          <a:lstStyle/>
          <a:p>
            <a:r>
              <a:rPr lang="en-US" dirty="0"/>
              <a:t>Initial Training Set-up</a:t>
            </a:r>
            <a:endParaRPr lang="en-GB"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C5CA3D8-B5C9-5D03-4CEB-76490993E735}"/>
                  </a:ext>
                </a:extLst>
              </p:cNvPr>
              <p:cNvSpPr>
                <a:spLocks noGrp="1"/>
              </p:cNvSpPr>
              <p:nvPr>
                <p:ph idx="1"/>
              </p:nvPr>
            </p:nvSpPr>
            <p:spPr/>
            <p:txBody>
              <a:bodyPr>
                <a:normAutofit/>
              </a:bodyPr>
              <a:lstStyle/>
              <a:p>
                <a:r>
                  <a:rPr lang="en-US" sz="1800" dirty="0"/>
                  <a:t>Loss Function</a:t>
                </a:r>
              </a:p>
              <a:p>
                <a:pPr lvl="1"/>
                <a:r>
                  <a:rPr lang="en-US" sz="1600" dirty="0" err="1"/>
                  <a:t>MSELoss</a:t>
                </a:r>
                <a:r>
                  <a:rPr lang="en-US" sz="1600" dirty="0"/>
                  <a:t> on distance-transformed targets</a:t>
                </a:r>
              </a:p>
              <a:p>
                <a:pPr lvl="1"/>
                <a:endParaRPr lang="en-US" sz="1600" dirty="0"/>
              </a:p>
              <a:p>
                <a:r>
                  <a:rPr lang="en-US" sz="1800" dirty="0"/>
                  <a:t>Optimizer</a:t>
                </a:r>
              </a:p>
              <a:p>
                <a:pPr lvl="1"/>
                <a:r>
                  <a:rPr lang="en-US" sz="1600" dirty="0"/>
                  <a:t>Adam</a:t>
                </a:r>
              </a:p>
              <a:p>
                <a:pPr lvl="1"/>
                <a:r>
                  <a:rPr lang="en-US" sz="1600" dirty="0"/>
                  <a:t>Learning rate = 1</a:t>
                </a:r>
                <a14:m>
                  <m:oMath xmlns:m="http://schemas.openxmlformats.org/officeDocument/2006/math">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10</m:t>
                        </m:r>
                      </m:e>
                      <m:sup>
                        <m:r>
                          <a:rPr lang="en-US" sz="1600" b="0" i="1" smtClean="0">
                            <a:latin typeface="Cambria Math" panose="02040503050406030204" pitchFamily="18" charset="0"/>
                          </a:rPr>
                          <m:t>−3</m:t>
                        </m:r>
                      </m:sup>
                    </m:sSup>
                  </m:oMath>
                </a14:m>
                <a:endParaRPr lang="en-GB" sz="1600" dirty="0"/>
              </a:p>
              <a:p>
                <a:pPr lvl="1"/>
                <a:endParaRPr lang="en-GB" sz="1600" dirty="0"/>
              </a:p>
              <a:p>
                <a:r>
                  <a:rPr lang="en-GB" sz="1800" dirty="0"/>
                  <a:t>Batch Size &amp; Epoch</a:t>
                </a:r>
              </a:p>
              <a:p>
                <a:pPr lvl="1"/>
                <a:r>
                  <a:rPr lang="en-GB" sz="1600" dirty="0"/>
                  <a:t>8 images per batch, 20 epochs </a:t>
                </a:r>
              </a:p>
              <a:p>
                <a:endParaRPr lang="en-GB" sz="2000" dirty="0"/>
              </a:p>
              <a:p>
                <a:r>
                  <a:rPr lang="en-GB" sz="2000" dirty="0"/>
                  <a:t>Validation</a:t>
                </a:r>
              </a:p>
              <a:p>
                <a:pPr lvl="1"/>
                <a:r>
                  <a:rPr lang="en-GB" sz="1600" dirty="0"/>
                  <a:t>20% of the 500 images</a:t>
                </a:r>
              </a:p>
              <a:p>
                <a:pPr lvl="1"/>
                <a:endParaRPr lang="en-GB" sz="1600" dirty="0"/>
              </a:p>
              <a:p>
                <a:endParaRPr lang="en-GB" sz="1800" dirty="0"/>
              </a:p>
            </p:txBody>
          </p:sp>
        </mc:Choice>
        <mc:Fallback>
          <p:sp>
            <p:nvSpPr>
              <p:cNvPr id="3" name="Content Placeholder 2">
                <a:extLst>
                  <a:ext uri="{FF2B5EF4-FFF2-40B4-BE49-F238E27FC236}">
                    <a16:creationId xmlns:a16="http://schemas.microsoft.com/office/drawing/2014/main" id="{7C5CA3D8-B5C9-5D03-4CEB-76490993E735}"/>
                  </a:ext>
                </a:extLst>
              </p:cNvPr>
              <p:cNvSpPr>
                <a:spLocks noGrp="1" noRot="1" noChangeAspect="1" noMove="1" noResize="1" noEditPoints="1" noAdjustHandles="1" noChangeArrowheads="1" noChangeShapeType="1" noTextEdit="1"/>
              </p:cNvSpPr>
              <p:nvPr>
                <p:ph idx="1"/>
              </p:nvPr>
            </p:nvSpPr>
            <p:spPr>
              <a:blipFill>
                <a:blip r:embed="rId2"/>
                <a:stretch>
                  <a:fillRect l="-522" t="-1261"/>
                </a:stretch>
              </a:blipFill>
            </p:spPr>
            <p:txBody>
              <a:bodyPr/>
              <a:lstStyle/>
              <a:p>
                <a:r>
                  <a:rPr lang="en-GB">
                    <a:noFill/>
                  </a:rPr>
                  <a:t> </a:t>
                </a:r>
              </a:p>
            </p:txBody>
          </p:sp>
        </mc:Fallback>
      </mc:AlternateContent>
    </p:spTree>
    <p:extLst>
      <p:ext uri="{BB962C8B-B14F-4D97-AF65-F5344CB8AC3E}">
        <p14:creationId xmlns:p14="http://schemas.microsoft.com/office/powerpoint/2010/main" val="26899924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F5B58-9122-F370-2A42-CEF430D54D30}"/>
              </a:ext>
            </a:extLst>
          </p:cNvPr>
          <p:cNvSpPr>
            <a:spLocks noGrp="1"/>
          </p:cNvSpPr>
          <p:nvPr>
            <p:ph type="title"/>
          </p:nvPr>
        </p:nvSpPr>
        <p:spPr/>
        <p:txBody>
          <a:bodyPr/>
          <a:lstStyle/>
          <a:p>
            <a:r>
              <a:rPr lang="en-US" dirty="0"/>
              <a:t>Training Set-up – QOL parameters</a:t>
            </a:r>
            <a:endParaRPr lang="en-GB" dirty="0"/>
          </a:p>
        </p:txBody>
      </p:sp>
      <p:sp>
        <p:nvSpPr>
          <p:cNvPr id="3" name="Content Placeholder 2">
            <a:extLst>
              <a:ext uri="{FF2B5EF4-FFF2-40B4-BE49-F238E27FC236}">
                <a16:creationId xmlns:a16="http://schemas.microsoft.com/office/drawing/2014/main" id="{1FE0C876-421A-7D63-79DE-B7F458EEBB88}"/>
              </a:ext>
            </a:extLst>
          </p:cNvPr>
          <p:cNvSpPr>
            <a:spLocks noGrp="1"/>
          </p:cNvSpPr>
          <p:nvPr>
            <p:ph idx="1"/>
          </p:nvPr>
        </p:nvSpPr>
        <p:spPr/>
        <p:txBody>
          <a:bodyPr/>
          <a:lstStyle/>
          <a:p>
            <a:r>
              <a:rPr lang="en-US" dirty="0"/>
              <a:t>Set serval checkpoints parameters for the ease of re-producing images, evaluate losses, changing training set-ups without re-train the model again  </a:t>
            </a:r>
            <a:endParaRPr lang="en-GB" dirty="0"/>
          </a:p>
        </p:txBody>
      </p:sp>
      <p:pic>
        <p:nvPicPr>
          <p:cNvPr id="5" name="Picture 4">
            <a:extLst>
              <a:ext uri="{FF2B5EF4-FFF2-40B4-BE49-F238E27FC236}">
                <a16:creationId xmlns:a16="http://schemas.microsoft.com/office/drawing/2014/main" id="{AD996E1C-3BF0-83E3-8A15-2D43D0C7F34B}"/>
              </a:ext>
            </a:extLst>
          </p:cNvPr>
          <p:cNvPicPr>
            <a:picLocks noChangeAspect="1"/>
          </p:cNvPicPr>
          <p:nvPr/>
        </p:nvPicPr>
        <p:blipFill>
          <a:blip r:embed="rId2"/>
          <a:stretch>
            <a:fillRect/>
          </a:stretch>
        </p:blipFill>
        <p:spPr>
          <a:xfrm>
            <a:off x="1169763" y="3248428"/>
            <a:ext cx="7534275" cy="2705100"/>
          </a:xfrm>
          <a:prstGeom prst="rect">
            <a:avLst/>
          </a:prstGeom>
        </p:spPr>
      </p:pic>
    </p:spTree>
    <p:extLst>
      <p:ext uri="{BB962C8B-B14F-4D97-AF65-F5344CB8AC3E}">
        <p14:creationId xmlns:p14="http://schemas.microsoft.com/office/powerpoint/2010/main" val="13013962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9009B-DDD3-43A4-C5AF-54AE10E49A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EFE1C4-5FE6-D0FD-29A0-FD32945C74D0}"/>
              </a:ext>
            </a:extLst>
          </p:cNvPr>
          <p:cNvSpPr>
            <a:spLocks noGrp="1"/>
          </p:cNvSpPr>
          <p:nvPr>
            <p:ph type="title"/>
          </p:nvPr>
        </p:nvSpPr>
        <p:spPr/>
        <p:txBody>
          <a:bodyPr/>
          <a:lstStyle/>
          <a:p>
            <a:r>
              <a:rPr lang="en-US" dirty="0"/>
              <a:t>Baseline Result - </a:t>
            </a:r>
            <a:r>
              <a:rPr lang="en-GB" dirty="0"/>
              <a:t>Qualitative Results</a:t>
            </a:r>
          </a:p>
        </p:txBody>
      </p:sp>
      <p:sp>
        <p:nvSpPr>
          <p:cNvPr id="3" name="Content Placeholder 2">
            <a:extLst>
              <a:ext uri="{FF2B5EF4-FFF2-40B4-BE49-F238E27FC236}">
                <a16:creationId xmlns:a16="http://schemas.microsoft.com/office/drawing/2014/main" id="{46FF784E-26E7-E9E5-CC43-5DE392C956A5}"/>
              </a:ext>
            </a:extLst>
          </p:cNvPr>
          <p:cNvSpPr>
            <a:spLocks noGrp="1"/>
          </p:cNvSpPr>
          <p:nvPr>
            <p:ph idx="1"/>
          </p:nvPr>
        </p:nvSpPr>
        <p:spPr/>
        <p:txBody>
          <a:bodyPr/>
          <a:lstStyle/>
          <a:p>
            <a:r>
              <a:rPr lang="en-US" dirty="0"/>
              <a:t>Visually can recognize the shape of the road</a:t>
            </a:r>
          </a:p>
          <a:p>
            <a:r>
              <a:rPr lang="en-US" dirty="0"/>
              <a:t>Very bad predictions, way to thick and has random white parts</a:t>
            </a:r>
          </a:p>
          <a:p>
            <a:endParaRPr lang="en-GB" dirty="0"/>
          </a:p>
        </p:txBody>
      </p:sp>
      <p:pic>
        <p:nvPicPr>
          <p:cNvPr id="21" name="Picture 20" descr="A white line drawing of a slide&#10;&#10;AI-generated content may be incorrect.">
            <a:extLst>
              <a:ext uri="{FF2B5EF4-FFF2-40B4-BE49-F238E27FC236}">
                <a16:creationId xmlns:a16="http://schemas.microsoft.com/office/drawing/2014/main" id="{B9A69E7D-C13C-1A19-0C04-196E504D70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93931" y="4979292"/>
            <a:ext cx="1389888" cy="1389888"/>
          </a:xfrm>
          <a:prstGeom prst="rect">
            <a:avLst/>
          </a:prstGeom>
        </p:spPr>
      </p:pic>
      <p:pic>
        <p:nvPicPr>
          <p:cNvPr id="31" name="Picture 30" descr="A black and white map of a city&#10;&#10;AI-generated content may be incorrect.">
            <a:extLst>
              <a:ext uri="{FF2B5EF4-FFF2-40B4-BE49-F238E27FC236}">
                <a16:creationId xmlns:a16="http://schemas.microsoft.com/office/drawing/2014/main" id="{69F95D19-55B3-3A95-B3F8-837A12A87F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25139" y="4979292"/>
            <a:ext cx="1389888" cy="1389888"/>
          </a:xfrm>
          <a:prstGeom prst="rect">
            <a:avLst/>
          </a:prstGeom>
        </p:spPr>
      </p:pic>
      <p:pic>
        <p:nvPicPr>
          <p:cNvPr id="32" name="Picture 31" descr="A black and white screen with a black background&#10;&#10;AI-generated content may be incorrect.">
            <a:extLst>
              <a:ext uri="{FF2B5EF4-FFF2-40B4-BE49-F238E27FC236}">
                <a16:creationId xmlns:a16="http://schemas.microsoft.com/office/drawing/2014/main" id="{8898BDC0-04F8-2DF7-51C0-0E0421F7C4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40237" y="4979292"/>
            <a:ext cx="1389888" cy="1389888"/>
          </a:xfrm>
          <a:prstGeom prst="rect">
            <a:avLst/>
          </a:prstGeom>
        </p:spPr>
      </p:pic>
      <p:pic>
        <p:nvPicPr>
          <p:cNvPr id="33" name="Picture 32" descr="A white silhouette of a plane&#10;&#10;AI-generated content may be incorrect.">
            <a:extLst>
              <a:ext uri="{FF2B5EF4-FFF2-40B4-BE49-F238E27FC236}">
                <a16:creationId xmlns:a16="http://schemas.microsoft.com/office/drawing/2014/main" id="{57375F0F-3D13-9585-FE2A-59A73EC9BE9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1657" y="4979293"/>
            <a:ext cx="1389888" cy="1389888"/>
          </a:xfrm>
          <a:prstGeom prst="rect">
            <a:avLst/>
          </a:prstGeom>
        </p:spPr>
      </p:pic>
      <p:pic>
        <p:nvPicPr>
          <p:cNvPr id="5" name="Picture 4" descr="A map of a road&#10;&#10;AI-generated content may be incorrect.">
            <a:extLst>
              <a:ext uri="{FF2B5EF4-FFF2-40B4-BE49-F238E27FC236}">
                <a16:creationId xmlns:a16="http://schemas.microsoft.com/office/drawing/2014/main" id="{15F4A720-2F58-C0C5-4AC9-B9758AF28CD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893931" y="3384952"/>
            <a:ext cx="1389888" cy="1389888"/>
          </a:xfrm>
          <a:prstGeom prst="rect">
            <a:avLst/>
          </a:prstGeom>
        </p:spPr>
      </p:pic>
      <p:pic>
        <p:nvPicPr>
          <p:cNvPr id="7" name="Picture 6" descr="A black and white image of a key&#10;&#10;AI-generated content may be incorrect.">
            <a:extLst>
              <a:ext uri="{FF2B5EF4-FFF2-40B4-BE49-F238E27FC236}">
                <a16:creationId xmlns:a16="http://schemas.microsoft.com/office/drawing/2014/main" id="{9E35E101-3494-6C77-2882-4C950CA4955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41657" y="3429000"/>
            <a:ext cx="1389888" cy="1389888"/>
          </a:xfrm>
          <a:prstGeom prst="rect">
            <a:avLst/>
          </a:prstGeom>
        </p:spPr>
      </p:pic>
      <p:pic>
        <p:nvPicPr>
          <p:cNvPr id="9" name="Picture 8" descr="A black and white image of a rectangular object&#10;&#10;AI-generated content may be incorrect.">
            <a:extLst>
              <a:ext uri="{FF2B5EF4-FFF2-40B4-BE49-F238E27FC236}">
                <a16:creationId xmlns:a16="http://schemas.microsoft.com/office/drawing/2014/main" id="{00EC877B-8F2F-FFFF-C070-71F807E06E2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740237" y="3430511"/>
            <a:ext cx="1389888" cy="1389888"/>
          </a:xfrm>
          <a:prstGeom prst="rect">
            <a:avLst/>
          </a:prstGeom>
        </p:spPr>
      </p:pic>
      <p:pic>
        <p:nvPicPr>
          <p:cNvPr id="12" name="Picture 11" descr="A black and white image of a grid&#10;&#10;AI-generated content may be incorrect.">
            <a:extLst>
              <a:ext uri="{FF2B5EF4-FFF2-40B4-BE49-F238E27FC236}">
                <a16:creationId xmlns:a16="http://schemas.microsoft.com/office/drawing/2014/main" id="{86C0FB36-CA6A-D680-4643-A3EBDBAD27B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325139" y="3397186"/>
            <a:ext cx="1389888" cy="1389888"/>
          </a:xfrm>
          <a:prstGeom prst="rect">
            <a:avLst/>
          </a:prstGeom>
        </p:spPr>
      </p:pic>
    </p:spTree>
    <p:extLst>
      <p:ext uri="{BB962C8B-B14F-4D97-AF65-F5344CB8AC3E}">
        <p14:creationId xmlns:p14="http://schemas.microsoft.com/office/powerpoint/2010/main" val="1288249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FC518-734A-A7BF-26AB-7D9FF313FF76}"/>
              </a:ext>
            </a:extLst>
          </p:cNvPr>
          <p:cNvSpPr>
            <a:spLocks noGrp="1"/>
          </p:cNvSpPr>
          <p:nvPr>
            <p:ph type="title"/>
          </p:nvPr>
        </p:nvSpPr>
        <p:spPr/>
        <p:txBody>
          <a:bodyPr/>
          <a:lstStyle/>
          <a:p>
            <a:r>
              <a:rPr lang="en-US" dirty="0"/>
              <a:t>Baseline Result - </a:t>
            </a:r>
            <a:r>
              <a:rPr lang="en-GB" dirty="0"/>
              <a:t>Quantitative Results</a:t>
            </a:r>
          </a:p>
        </p:txBody>
      </p:sp>
      <p:sp>
        <p:nvSpPr>
          <p:cNvPr id="9" name="Content Placeholder 8">
            <a:extLst>
              <a:ext uri="{FF2B5EF4-FFF2-40B4-BE49-F238E27FC236}">
                <a16:creationId xmlns:a16="http://schemas.microsoft.com/office/drawing/2014/main" id="{5136F955-601B-3AFA-F528-D285278EB912}"/>
              </a:ext>
            </a:extLst>
          </p:cNvPr>
          <p:cNvSpPr>
            <a:spLocks noGrp="1"/>
          </p:cNvSpPr>
          <p:nvPr>
            <p:ph idx="1"/>
          </p:nvPr>
        </p:nvSpPr>
        <p:spPr/>
        <p:txBody>
          <a:bodyPr/>
          <a:lstStyle/>
          <a:p>
            <a:r>
              <a:rPr lang="en-US" dirty="0"/>
              <a:t>Converging fast</a:t>
            </a:r>
            <a:endParaRPr lang="en-GB" dirty="0"/>
          </a:p>
        </p:txBody>
      </p:sp>
      <p:pic>
        <p:nvPicPr>
          <p:cNvPr id="10" name="Picture 9" descr="A graph with a line&#10;&#10;AI-generated content may be incorrect.">
            <a:extLst>
              <a:ext uri="{FF2B5EF4-FFF2-40B4-BE49-F238E27FC236}">
                <a16:creationId xmlns:a16="http://schemas.microsoft.com/office/drawing/2014/main" id="{984A5609-2C60-F249-D37B-B77B1C18FD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53567" y="2897747"/>
            <a:ext cx="4638975" cy="3479231"/>
          </a:xfrm>
          <a:prstGeom prst="rect">
            <a:avLst/>
          </a:prstGeom>
        </p:spPr>
      </p:pic>
    </p:spTree>
    <p:extLst>
      <p:ext uri="{BB962C8B-B14F-4D97-AF65-F5344CB8AC3E}">
        <p14:creationId xmlns:p14="http://schemas.microsoft.com/office/powerpoint/2010/main" val="5043442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D6152-F1DD-C598-98AC-1B52C244E66E}"/>
              </a:ext>
            </a:extLst>
          </p:cNvPr>
          <p:cNvSpPr>
            <a:spLocks noGrp="1"/>
          </p:cNvSpPr>
          <p:nvPr>
            <p:ph type="title"/>
          </p:nvPr>
        </p:nvSpPr>
        <p:spPr/>
        <p:txBody>
          <a:bodyPr/>
          <a:lstStyle/>
          <a:p>
            <a:r>
              <a:rPr lang="en-US" dirty="0"/>
              <a:t>Baseline Result - </a:t>
            </a:r>
            <a:r>
              <a:rPr lang="en-GB" dirty="0"/>
              <a:t>Quantitative Results</a:t>
            </a:r>
          </a:p>
        </p:txBody>
      </p:sp>
      <p:sp>
        <p:nvSpPr>
          <p:cNvPr id="3" name="Content Placeholder 2">
            <a:extLst>
              <a:ext uri="{FF2B5EF4-FFF2-40B4-BE49-F238E27FC236}">
                <a16:creationId xmlns:a16="http://schemas.microsoft.com/office/drawing/2014/main" id="{41567731-7AF2-FFCE-35BF-DAF8DB600AC4}"/>
              </a:ext>
            </a:extLst>
          </p:cNvPr>
          <p:cNvSpPr>
            <a:spLocks noGrp="1"/>
          </p:cNvSpPr>
          <p:nvPr>
            <p:ph idx="1"/>
          </p:nvPr>
        </p:nvSpPr>
        <p:spPr/>
        <p:txBody>
          <a:bodyPr/>
          <a:lstStyle/>
          <a:p>
            <a:r>
              <a:rPr lang="en-US" dirty="0"/>
              <a:t>Overall Poor Precision</a:t>
            </a:r>
          </a:p>
          <a:p>
            <a:pPr lvl="1"/>
            <a:r>
              <a:rPr lang="en-US" dirty="0"/>
              <a:t>Extremely poor at </a:t>
            </a:r>
          </a:p>
          <a:p>
            <a:pPr lvl="2"/>
            <a:r>
              <a:rPr lang="en-US" dirty="0"/>
              <a:t>Valence 1: dead end</a:t>
            </a:r>
          </a:p>
          <a:p>
            <a:pPr lvl="2"/>
            <a:r>
              <a:rPr lang="en-US" dirty="0"/>
              <a:t>Valence 3: T – intersection</a:t>
            </a:r>
          </a:p>
          <a:p>
            <a:pPr lvl="2"/>
            <a:r>
              <a:rPr lang="en-US" dirty="0"/>
              <a:t>Valence 4: All-way intersections</a:t>
            </a:r>
            <a:endParaRPr lang="en-GB" dirty="0"/>
          </a:p>
        </p:txBody>
      </p:sp>
      <p:pic>
        <p:nvPicPr>
          <p:cNvPr id="5" name="Picture 4">
            <a:extLst>
              <a:ext uri="{FF2B5EF4-FFF2-40B4-BE49-F238E27FC236}">
                <a16:creationId xmlns:a16="http://schemas.microsoft.com/office/drawing/2014/main" id="{4A14C183-0F76-F5CF-235E-ABA8612AC87E}"/>
              </a:ext>
            </a:extLst>
          </p:cNvPr>
          <p:cNvPicPr>
            <a:picLocks noChangeAspect="1"/>
          </p:cNvPicPr>
          <p:nvPr/>
        </p:nvPicPr>
        <p:blipFill>
          <a:blip r:embed="rId2"/>
          <a:stretch>
            <a:fillRect/>
          </a:stretch>
        </p:blipFill>
        <p:spPr>
          <a:xfrm>
            <a:off x="2992459" y="3776663"/>
            <a:ext cx="6438900" cy="2400300"/>
          </a:xfrm>
          <a:prstGeom prst="rect">
            <a:avLst/>
          </a:prstGeom>
        </p:spPr>
      </p:pic>
    </p:spTree>
    <p:extLst>
      <p:ext uri="{BB962C8B-B14F-4D97-AF65-F5344CB8AC3E}">
        <p14:creationId xmlns:p14="http://schemas.microsoft.com/office/powerpoint/2010/main" val="8629806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A44B8-90F1-57EB-80E1-F743713E94BA}"/>
              </a:ext>
            </a:extLst>
          </p:cNvPr>
          <p:cNvSpPr>
            <a:spLocks noGrp="1"/>
          </p:cNvSpPr>
          <p:nvPr>
            <p:ph type="title"/>
          </p:nvPr>
        </p:nvSpPr>
        <p:spPr/>
        <p:txBody>
          <a:bodyPr/>
          <a:lstStyle/>
          <a:p>
            <a:r>
              <a:rPr lang="en-US" dirty="0"/>
              <a:t>Reasoning – Poor performance </a:t>
            </a:r>
            <a:endParaRPr lang="en-GB" dirty="0"/>
          </a:p>
        </p:txBody>
      </p:sp>
      <p:sp>
        <p:nvSpPr>
          <p:cNvPr id="3" name="Content Placeholder 2">
            <a:extLst>
              <a:ext uri="{FF2B5EF4-FFF2-40B4-BE49-F238E27FC236}">
                <a16:creationId xmlns:a16="http://schemas.microsoft.com/office/drawing/2014/main" id="{074AEF4E-920B-A4D3-E9CB-B75B0C0D4738}"/>
              </a:ext>
            </a:extLst>
          </p:cNvPr>
          <p:cNvSpPr>
            <a:spLocks noGrp="1"/>
          </p:cNvSpPr>
          <p:nvPr>
            <p:ph idx="1"/>
          </p:nvPr>
        </p:nvSpPr>
        <p:spPr/>
        <p:txBody>
          <a:bodyPr/>
          <a:lstStyle/>
          <a:p>
            <a:r>
              <a:rPr lang="en-US" dirty="0"/>
              <a:t>Not resistance to noise at all</a:t>
            </a:r>
          </a:p>
          <a:p>
            <a:pPr lvl="1"/>
            <a:r>
              <a:rPr lang="en-US" dirty="0"/>
              <a:t>Model thinks scattered noises are roads</a:t>
            </a:r>
          </a:p>
          <a:p>
            <a:pPr lvl="1"/>
            <a:r>
              <a:rPr lang="en-US" dirty="0"/>
              <a:t>However, do not want to reduce noise level, need </a:t>
            </a:r>
            <a:br>
              <a:rPr lang="en-US" dirty="0"/>
            </a:br>
            <a:r>
              <a:rPr lang="en-US" dirty="0"/>
              <a:t>the model to be robust</a:t>
            </a:r>
          </a:p>
          <a:p>
            <a:pPr lvl="1"/>
            <a:endParaRPr lang="en-US" dirty="0"/>
          </a:p>
          <a:p>
            <a:r>
              <a:rPr lang="en-US" dirty="0" err="1"/>
              <a:t>MSEloss</a:t>
            </a:r>
            <a:r>
              <a:rPr lang="en-US" dirty="0"/>
              <a:t> and U-net’s </a:t>
            </a:r>
            <a:r>
              <a:rPr lang="en-US" dirty="0" err="1"/>
              <a:t>natrue</a:t>
            </a:r>
            <a:endParaRPr lang="en-US" dirty="0"/>
          </a:p>
          <a:p>
            <a:pPr lvl="1"/>
            <a:r>
              <a:rPr lang="en-US" dirty="0"/>
              <a:t>It encourages smooth, continuous outputs</a:t>
            </a:r>
            <a:endParaRPr lang="en-GB" dirty="0"/>
          </a:p>
          <a:p>
            <a:pPr lvl="1"/>
            <a:r>
              <a:rPr lang="en-GB" dirty="0"/>
              <a:t>Does not penalize false positives strong enough</a:t>
            </a:r>
          </a:p>
          <a:p>
            <a:pPr lvl="1"/>
            <a:r>
              <a:rPr lang="en-GB" dirty="0"/>
              <a:t>In skeletonization, most pixel are zeros, which is against a smooth output style</a:t>
            </a:r>
            <a:endParaRPr lang="en-US" dirty="0"/>
          </a:p>
        </p:txBody>
      </p:sp>
      <p:pic>
        <p:nvPicPr>
          <p:cNvPr id="5" name="Picture 4">
            <a:extLst>
              <a:ext uri="{FF2B5EF4-FFF2-40B4-BE49-F238E27FC236}">
                <a16:creationId xmlns:a16="http://schemas.microsoft.com/office/drawing/2014/main" id="{9B0E27BF-C1A0-DC93-4CC0-81A0F694D20A}"/>
              </a:ext>
            </a:extLst>
          </p:cNvPr>
          <p:cNvPicPr>
            <a:picLocks noChangeAspect="1"/>
          </p:cNvPicPr>
          <p:nvPr/>
        </p:nvPicPr>
        <p:blipFill>
          <a:blip r:embed="rId2"/>
          <a:stretch>
            <a:fillRect/>
          </a:stretch>
        </p:blipFill>
        <p:spPr>
          <a:xfrm>
            <a:off x="8494757" y="1898023"/>
            <a:ext cx="2066925" cy="2057400"/>
          </a:xfrm>
          <a:prstGeom prst="rect">
            <a:avLst/>
          </a:prstGeom>
        </p:spPr>
      </p:pic>
    </p:spTree>
    <p:extLst>
      <p:ext uri="{BB962C8B-B14F-4D97-AF65-F5344CB8AC3E}">
        <p14:creationId xmlns:p14="http://schemas.microsoft.com/office/powerpoint/2010/main" val="23300265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A8CD7510-D694-A3D8-27EB-854F72BD3437}"/>
                  </a:ext>
                </a:extLst>
              </p:cNvPr>
              <p:cNvSpPr>
                <a:spLocks noGrp="1"/>
              </p:cNvSpPr>
              <p:nvPr>
                <p:ph type="title"/>
              </p:nvPr>
            </p:nvSpPr>
            <p:spPr/>
            <p:txBody>
              <a:bodyPr/>
              <a:lstStyle/>
              <a:p>
                <a:r>
                  <a:rPr lang="en-US" dirty="0"/>
                  <a:t>Design iterations – Baseline  </a:t>
                </a:r>
                <a:r>
                  <a:rPr lang="en-GB" dirty="0"/>
                  <a:t>→</a:t>
                </a:r>
                <a:r>
                  <a:rPr lang="en-US" dirty="0"/>
                  <a:t>  </a:t>
                </a:r>
                <a14:m>
                  <m:oMath xmlns:m="http://schemas.openxmlformats.org/officeDocument/2006/math">
                    <m:sSup>
                      <m:sSupPr>
                        <m:ctrlPr>
                          <a:rPr lang="en-US" b="0" i="1" dirty="0" smtClean="0">
                            <a:latin typeface="Cambria Math" panose="02040503050406030204" pitchFamily="18" charset="0"/>
                          </a:rPr>
                        </m:ctrlPr>
                      </m:sSupPr>
                      <m:e>
                        <m:r>
                          <m:rPr>
                            <m:nor/>
                          </m:rPr>
                          <a:rPr lang="en-US" dirty="0" smtClean="0"/>
                          <m:t>Baseline</m:t>
                        </m:r>
                      </m:e>
                      <m:sup>
                        <m:r>
                          <a:rPr lang="en-US" b="0" i="1" dirty="0" smtClean="0">
                            <a:latin typeface="Cambria Math" panose="02040503050406030204" pitchFamily="18" charset="0"/>
                          </a:rPr>
                          <m:t>+</m:t>
                        </m:r>
                      </m:sup>
                    </m:sSup>
                  </m:oMath>
                </a14:m>
                <a:r>
                  <a:rPr lang="en-US" dirty="0"/>
                  <a:t> </a:t>
                </a:r>
                <a:endParaRPr lang="en-GB" dirty="0"/>
              </a:p>
            </p:txBody>
          </p:sp>
        </mc:Choice>
        <mc:Fallback>
          <p:sp>
            <p:nvSpPr>
              <p:cNvPr id="2" name="Title 1">
                <a:extLst>
                  <a:ext uri="{FF2B5EF4-FFF2-40B4-BE49-F238E27FC236}">
                    <a16:creationId xmlns:a16="http://schemas.microsoft.com/office/drawing/2014/main" id="{A8CD7510-D694-A3D8-27EB-854F72BD3437}"/>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GB">
                    <a:noFill/>
                  </a:rPr>
                  <a:t> </a:t>
                </a:r>
              </a:p>
            </p:txBody>
          </p:sp>
        </mc:Fallback>
      </mc:AlternateContent>
      <p:sp>
        <p:nvSpPr>
          <p:cNvPr id="3" name="Content Placeholder 2">
            <a:extLst>
              <a:ext uri="{FF2B5EF4-FFF2-40B4-BE49-F238E27FC236}">
                <a16:creationId xmlns:a16="http://schemas.microsoft.com/office/drawing/2014/main" id="{62954D34-7A85-D2ED-F914-1CA945F8E877}"/>
              </a:ext>
            </a:extLst>
          </p:cNvPr>
          <p:cNvSpPr>
            <a:spLocks noGrp="1"/>
          </p:cNvSpPr>
          <p:nvPr>
            <p:ph idx="1"/>
          </p:nvPr>
        </p:nvSpPr>
        <p:spPr/>
        <p:txBody>
          <a:bodyPr/>
          <a:lstStyle/>
          <a:p>
            <a:r>
              <a:rPr lang="en-GB" dirty="0"/>
              <a:t>Binary Cross-Entropy Loss </a:t>
            </a:r>
          </a:p>
          <a:p>
            <a:pPr lvl="1"/>
            <a:r>
              <a:rPr lang="en-GB" dirty="0"/>
              <a:t>logits Applies a sigmoid internally.</a:t>
            </a:r>
          </a:p>
          <a:p>
            <a:pPr lvl="1"/>
            <a:r>
              <a:rPr lang="en-GB" dirty="0"/>
              <a:t>Compares predicted probability vs. ground-truth (0 or 1).</a:t>
            </a:r>
          </a:p>
          <a:p>
            <a:pPr lvl="1"/>
            <a:r>
              <a:rPr lang="en-GB" dirty="0"/>
              <a:t>Penalizes incorrect predictions more when the model is confident but wrong.</a:t>
            </a:r>
          </a:p>
          <a:p>
            <a:pPr lvl="1"/>
            <a:endParaRPr lang="en-GB" dirty="0"/>
          </a:p>
          <a:p>
            <a:endParaRPr lang="en-GB" dirty="0"/>
          </a:p>
          <a:p>
            <a:endParaRPr lang="en-GB" dirty="0"/>
          </a:p>
        </p:txBody>
      </p:sp>
    </p:spTree>
    <p:extLst>
      <p:ext uri="{BB962C8B-B14F-4D97-AF65-F5344CB8AC3E}">
        <p14:creationId xmlns:p14="http://schemas.microsoft.com/office/powerpoint/2010/main" val="7536189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2DEA7-6297-9C3D-1A51-08E05CBB357F}"/>
              </a:ext>
            </a:extLst>
          </p:cNvPr>
          <p:cNvSpPr>
            <a:spLocks noGrp="1"/>
          </p:cNvSpPr>
          <p:nvPr>
            <p:ph type="title"/>
          </p:nvPr>
        </p:nvSpPr>
        <p:spPr/>
        <p:txBody>
          <a:bodyPr/>
          <a:lstStyle/>
          <a:p>
            <a:r>
              <a:rPr lang="en-US" dirty="0"/>
              <a:t>Implementation of </a:t>
            </a:r>
            <a:r>
              <a:rPr lang="en-US" dirty="0" err="1"/>
              <a:t>BCELoss</a:t>
            </a:r>
            <a:endParaRPr lang="en-GB" dirty="0"/>
          </a:p>
        </p:txBody>
      </p:sp>
      <p:sp>
        <p:nvSpPr>
          <p:cNvPr id="3" name="Content Placeholder 2">
            <a:extLst>
              <a:ext uri="{FF2B5EF4-FFF2-40B4-BE49-F238E27FC236}">
                <a16:creationId xmlns:a16="http://schemas.microsoft.com/office/drawing/2014/main" id="{1C78A323-8B69-47B6-977B-FFECB474049C}"/>
              </a:ext>
            </a:extLst>
          </p:cNvPr>
          <p:cNvSpPr>
            <a:spLocks noGrp="1"/>
          </p:cNvSpPr>
          <p:nvPr>
            <p:ph idx="1"/>
          </p:nvPr>
        </p:nvSpPr>
        <p:spPr/>
        <p:txBody>
          <a:bodyPr/>
          <a:lstStyle/>
          <a:p>
            <a:r>
              <a:rPr lang="en-US" dirty="0"/>
              <a:t>Concept </a:t>
            </a:r>
          </a:p>
          <a:p>
            <a:pPr lvl="1"/>
            <a:r>
              <a:rPr lang="en-GB" dirty="0"/>
              <a:t>Applies a sigmoid internally.</a:t>
            </a:r>
          </a:p>
          <a:p>
            <a:pPr lvl="1"/>
            <a:r>
              <a:rPr lang="en-GB" dirty="0"/>
              <a:t>Compares predicted probability vs. ground-truth (0 or 1).</a:t>
            </a:r>
          </a:p>
          <a:p>
            <a:pPr lvl="1"/>
            <a:r>
              <a:rPr lang="en-GB" dirty="0"/>
              <a:t>Penalizes incorrect predictions more when the model is confident but wrong.</a:t>
            </a:r>
          </a:p>
          <a:p>
            <a:pPr lvl="1"/>
            <a:endParaRPr lang="en-GB" dirty="0"/>
          </a:p>
          <a:p>
            <a:r>
              <a:rPr lang="en-GB" dirty="0"/>
              <a:t>Code implementation </a:t>
            </a:r>
          </a:p>
        </p:txBody>
      </p:sp>
      <p:pic>
        <p:nvPicPr>
          <p:cNvPr id="5" name="Picture 4">
            <a:extLst>
              <a:ext uri="{FF2B5EF4-FFF2-40B4-BE49-F238E27FC236}">
                <a16:creationId xmlns:a16="http://schemas.microsoft.com/office/drawing/2014/main" id="{06D9BE07-4C7B-81B8-F56A-C5249EF541F4}"/>
              </a:ext>
            </a:extLst>
          </p:cNvPr>
          <p:cNvPicPr>
            <a:picLocks noChangeAspect="1"/>
          </p:cNvPicPr>
          <p:nvPr/>
        </p:nvPicPr>
        <p:blipFill>
          <a:blip r:embed="rId2"/>
          <a:stretch>
            <a:fillRect/>
          </a:stretch>
        </p:blipFill>
        <p:spPr>
          <a:xfrm>
            <a:off x="1176069" y="4747541"/>
            <a:ext cx="3400425" cy="466725"/>
          </a:xfrm>
          <a:prstGeom prst="rect">
            <a:avLst/>
          </a:prstGeom>
        </p:spPr>
      </p:pic>
    </p:spTree>
    <p:extLst>
      <p:ext uri="{BB962C8B-B14F-4D97-AF65-F5344CB8AC3E}">
        <p14:creationId xmlns:p14="http://schemas.microsoft.com/office/powerpoint/2010/main" val="35429758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1DC74673-9DAC-98EC-CF01-FE09FD37F393}"/>
                  </a:ext>
                </a:extLst>
              </p:cNvPr>
              <p:cNvSpPr>
                <a:spLocks noGrp="1"/>
              </p:cNvSpPr>
              <p:nvPr>
                <p:ph type="title"/>
              </p:nvPr>
            </p:nvSpPr>
            <p:spPr/>
            <p:txBody>
              <a:bodyPr/>
              <a:lstStyle/>
              <a:p>
                <a14:m>
                  <m:oMath xmlns:m="http://schemas.openxmlformats.org/officeDocument/2006/math">
                    <m:sSup>
                      <m:sSupPr>
                        <m:ctrlPr>
                          <a:rPr lang="en-US" b="0" i="1" dirty="0" smtClean="0">
                            <a:latin typeface="Cambria Math" panose="02040503050406030204" pitchFamily="18" charset="0"/>
                          </a:rPr>
                        </m:ctrlPr>
                      </m:sSupPr>
                      <m:e>
                        <m:r>
                          <m:rPr>
                            <m:nor/>
                          </m:rPr>
                          <a:rPr lang="en-US" dirty="0" smtClean="0"/>
                          <m:t>Baseline</m:t>
                        </m:r>
                      </m:e>
                      <m:sup>
                        <m:r>
                          <a:rPr lang="en-US" b="0" i="1" dirty="0" smtClean="0">
                            <a:latin typeface="Cambria Math" panose="02040503050406030204" pitchFamily="18" charset="0"/>
                          </a:rPr>
                          <m:t>+</m:t>
                        </m:r>
                      </m:sup>
                    </m:sSup>
                  </m:oMath>
                </a14:m>
                <a:r>
                  <a:rPr lang="en-US" dirty="0"/>
                  <a:t> Result - </a:t>
                </a:r>
                <a:r>
                  <a:rPr lang="en-GB" dirty="0"/>
                  <a:t>Qualitative Results</a:t>
                </a:r>
              </a:p>
            </p:txBody>
          </p:sp>
        </mc:Choice>
        <mc:Fallback>
          <p:sp>
            <p:nvSpPr>
              <p:cNvPr id="2" name="Title 1">
                <a:extLst>
                  <a:ext uri="{FF2B5EF4-FFF2-40B4-BE49-F238E27FC236}">
                    <a16:creationId xmlns:a16="http://schemas.microsoft.com/office/drawing/2014/main" id="{1DC74673-9DAC-98EC-CF01-FE09FD37F393}"/>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en-GB">
                    <a:noFill/>
                  </a:rPr>
                  <a:t> </a:t>
                </a:r>
              </a:p>
            </p:txBody>
          </p:sp>
        </mc:Fallback>
      </mc:AlternateContent>
      <p:sp>
        <p:nvSpPr>
          <p:cNvPr id="3" name="Content Placeholder 2">
            <a:extLst>
              <a:ext uri="{FF2B5EF4-FFF2-40B4-BE49-F238E27FC236}">
                <a16:creationId xmlns:a16="http://schemas.microsoft.com/office/drawing/2014/main" id="{DD690392-89A0-0ECC-D44B-E201C5813F6A}"/>
              </a:ext>
            </a:extLst>
          </p:cNvPr>
          <p:cNvSpPr>
            <a:spLocks noGrp="1"/>
          </p:cNvSpPr>
          <p:nvPr>
            <p:ph idx="1"/>
          </p:nvPr>
        </p:nvSpPr>
        <p:spPr/>
        <p:txBody>
          <a:bodyPr/>
          <a:lstStyle/>
          <a:p>
            <a:r>
              <a:rPr lang="en-US" dirty="0"/>
              <a:t>Visually can recognize the road</a:t>
            </a:r>
          </a:p>
          <a:p>
            <a:r>
              <a:rPr lang="en-US" dirty="0"/>
              <a:t>Wider roads disappears, with discontinuity on thinner roads sometimes </a:t>
            </a:r>
          </a:p>
          <a:p>
            <a:endParaRPr lang="en-GB" dirty="0"/>
          </a:p>
        </p:txBody>
      </p:sp>
      <p:pic>
        <p:nvPicPr>
          <p:cNvPr id="11" name="Picture 10" descr="A black background with white lines&#10;&#10;AI-generated content may be incorrect.">
            <a:extLst>
              <a:ext uri="{FF2B5EF4-FFF2-40B4-BE49-F238E27FC236}">
                <a16:creationId xmlns:a16="http://schemas.microsoft.com/office/drawing/2014/main" id="{7482BFB1-8FB7-EE86-B759-ED981E2DF2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1659" y="3290281"/>
            <a:ext cx="1417749" cy="1417749"/>
          </a:xfrm>
          <a:prstGeom prst="rect">
            <a:avLst/>
          </a:prstGeom>
        </p:spPr>
      </p:pic>
      <p:pic>
        <p:nvPicPr>
          <p:cNvPr id="13" name="Picture 12" descr="A black background with white lines&#10;&#10;AI-generated content may be incorrect.">
            <a:extLst>
              <a:ext uri="{FF2B5EF4-FFF2-40B4-BE49-F238E27FC236}">
                <a16:creationId xmlns:a16="http://schemas.microsoft.com/office/drawing/2014/main" id="{08740539-EA98-2E97-D5CA-0134094A304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40238" y="3290551"/>
            <a:ext cx="1417749" cy="1417749"/>
          </a:xfrm>
          <a:prstGeom prst="rect">
            <a:avLst/>
          </a:prstGeom>
        </p:spPr>
      </p:pic>
      <p:pic>
        <p:nvPicPr>
          <p:cNvPr id="15" name="Picture 14" descr="A black and white map&#10;&#10;AI-generated content may be incorrect.">
            <a:extLst>
              <a:ext uri="{FF2B5EF4-FFF2-40B4-BE49-F238E27FC236}">
                <a16:creationId xmlns:a16="http://schemas.microsoft.com/office/drawing/2014/main" id="{42F56287-3A4C-3BF1-4C7B-4AE12EDCECA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17085" y="3290551"/>
            <a:ext cx="1417749" cy="1417749"/>
          </a:xfrm>
          <a:prstGeom prst="rect">
            <a:avLst/>
          </a:prstGeom>
        </p:spPr>
      </p:pic>
      <p:pic>
        <p:nvPicPr>
          <p:cNvPr id="19" name="Picture 18" descr="A white lines on a black background&#10;&#10;AI-generated content may be incorrect.">
            <a:extLst>
              <a:ext uri="{FF2B5EF4-FFF2-40B4-BE49-F238E27FC236}">
                <a16:creationId xmlns:a16="http://schemas.microsoft.com/office/drawing/2014/main" id="{EC525206-CEEE-088F-49F6-ED7ABAD9020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893932" y="3290551"/>
            <a:ext cx="1417749" cy="1417749"/>
          </a:xfrm>
          <a:prstGeom prst="rect">
            <a:avLst/>
          </a:prstGeom>
        </p:spPr>
      </p:pic>
      <p:pic>
        <p:nvPicPr>
          <p:cNvPr id="21" name="Picture 20" descr="A white line drawing of a slide&#10;&#10;AI-generated content may be incorrect.">
            <a:extLst>
              <a:ext uri="{FF2B5EF4-FFF2-40B4-BE49-F238E27FC236}">
                <a16:creationId xmlns:a16="http://schemas.microsoft.com/office/drawing/2014/main" id="{06BB8635-26CD-176F-0C2E-0A79C880609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93932" y="4979293"/>
            <a:ext cx="1417749" cy="1417749"/>
          </a:xfrm>
          <a:prstGeom prst="rect">
            <a:avLst/>
          </a:prstGeom>
        </p:spPr>
      </p:pic>
      <p:pic>
        <p:nvPicPr>
          <p:cNvPr id="31" name="Picture 30" descr="A black and white map of a city&#10;&#10;AI-generated content may be incorrect.">
            <a:extLst>
              <a:ext uri="{FF2B5EF4-FFF2-40B4-BE49-F238E27FC236}">
                <a16:creationId xmlns:a16="http://schemas.microsoft.com/office/drawing/2014/main" id="{4D220A7D-589B-BD02-9B16-ABB10B0D3FC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25140" y="4979293"/>
            <a:ext cx="1417749" cy="1417749"/>
          </a:xfrm>
          <a:prstGeom prst="rect">
            <a:avLst/>
          </a:prstGeom>
        </p:spPr>
      </p:pic>
      <p:pic>
        <p:nvPicPr>
          <p:cNvPr id="32" name="Picture 31" descr="A black and white screen with a black background&#10;&#10;AI-generated content may be incorrect.">
            <a:extLst>
              <a:ext uri="{FF2B5EF4-FFF2-40B4-BE49-F238E27FC236}">
                <a16:creationId xmlns:a16="http://schemas.microsoft.com/office/drawing/2014/main" id="{3746F71C-64B5-A57D-4638-B4EE44CDC5E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740238" y="4979293"/>
            <a:ext cx="1417749" cy="1417749"/>
          </a:xfrm>
          <a:prstGeom prst="rect">
            <a:avLst/>
          </a:prstGeom>
        </p:spPr>
      </p:pic>
      <p:pic>
        <p:nvPicPr>
          <p:cNvPr id="33" name="Picture 32" descr="A white silhouette of a plane&#10;&#10;AI-generated content may be incorrect.">
            <a:extLst>
              <a:ext uri="{FF2B5EF4-FFF2-40B4-BE49-F238E27FC236}">
                <a16:creationId xmlns:a16="http://schemas.microsoft.com/office/drawing/2014/main" id="{3CF8D10A-401F-803E-72ED-7426A1FF759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141658" y="4979294"/>
            <a:ext cx="1417749" cy="1417749"/>
          </a:xfrm>
          <a:prstGeom prst="rect">
            <a:avLst/>
          </a:prstGeom>
        </p:spPr>
      </p:pic>
    </p:spTree>
    <p:extLst>
      <p:ext uri="{BB962C8B-B14F-4D97-AF65-F5344CB8AC3E}">
        <p14:creationId xmlns:p14="http://schemas.microsoft.com/office/powerpoint/2010/main" val="37312536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8AD9F7D2-EF19-95B7-4571-E5D9F29DC50A}"/>
                  </a:ext>
                </a:extLst>
              </p:cNvPr>
              <p:cNvSpPr>
                <a:spLocks noGrp="1"/>
              </p:cNvSpPr>
              <p:nvPr>
                <p:ph type="title"/>
              </p:nvPr>
            </p:nvSpPr>
            <p:spPr/>
            <p:txBody>
              <a:bodyPr/>
              <a:lstStyle/>
              <a:p>
                <a14:m>
                  <m:oMath xmlns:m="http://schemas.openxmlformats.org/officeDocument/2006/math">
                    <m:sSup>
                      <m:sSupPr>
                        <m:ctrlPr>
                          <a:rPr lang="en-US" b="0" i="1" dirty="0" smtClean="0">
                            <a:latin typeface="Cambria Math" panose="02040503050406030204" pitchFamily="18" charset="0"/>
                          </a:rPr>
                        </m:ctrlPr>
                      </m:sSupPr>
                      <m:e>
                        <m:r>
                          <m:rPr>
                            <m:nor/>
                          </m:rPr>
                          <a:rPr lang="en-US" dirty="0" smtClean="0"/>
                          <m:t>Baseline</m:t>
                        </m:r>
                      </m:e>
                      <m:sup>
                        <m:r>
                          <a:rPr lang="en-US" b="0" i="1" dirty="0" smtClean="0">
                            <a:latin typeface="Cambria Math" panose="02040503050406030204" pitchFamily="18" charset="0"/>
                          </a:rPr>
                          <m:t>+</m:t>
                        </m:r>
                      </m:sup>
                    </m:sSup>
                  </m:oMath>
                </a14:m>
                <a:r>
                  <a:rPr lang="en-US" dirty="0"/>
                  <a:t> Result - </a:t>
                </a:r>
                <a:r>
                  <a:rPr lang="en-GB" dirty="0"/>
                  <a:t>Quantitative Results</a:t>
                </a:r>
              </a:p>
            </p:txBody>
          </p:sp>
        </mc:Choice>
        <mc:Fallback>
          <p:sp>
            <p:nvSpPr>
              <p:cNvPr id="2" name="Title 1">
                <a:extLst>
                  <a:ext uri="{FF2B5EF4-FFF2-40B4-BE49-F238E27FC236}">
                    <a16:creationId xmlns:a16="http://schemas.microsoft.com/office/drawing/2014/main" id="{8AD9F7D2-EF19-95B7-4571-E5D9F29DC50A}"/>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en-GB">
                    <a:noFill/>
                  </a:rPr>
                  <a:t> </a:t>
                </a:r>
              </a:p>
            </p:txBody>
          </p:sp>
        </mc:Fallback>
      </mc:AlternateContent>
      <p:sp>
        <p:nvSpPr>
          <p:cNvPr id="3" name="Content Placeholder 2">
            <a:extLst>
              <a:ext uri="{FF2B5EF4-FFF2-40B4-BE49-F238E27FC236}">
                <a16:creationId xmlns:a16="http://schemas.microsoft.com/office/drawing/2014/main" id="{970AE632-8130-40FB-C414-116C7964D611}"/>
              </a:ext>
            </a:extLst>
          </p:cNvPr>
          <p:cNvSpPr>
            <a:spLocks noGrp="1"/>
          </p:cNvSpPr>
          <p:nvPr>
            <p:ph idx="1"/>
          </p:nvPr>
        </p:nvSpPr>
        <p:spPr/>
        <p:txBody>
          <a:bodyPr/>
          <a:lstStyle/>
          <a:p>
            <a:r>
              <a:rPr lang="en-US" dirty="0"/>
              <a:t>Loss is low and is converging fast. </a:t>
            </a:r>
            <a:endParaRPr lang="en-GB" dirty="0"/>
          </a:p>
        </p:txBody>
      </p:sp>
      <p:pic>
        <p:nvPicPr>
          <p:cNvPr id="13" name="Picture 12" descr="A graph with a line&#10;&#10;AI-generated content may be incorrect.">
            <a:extLst>
              <a:ext uri="{FF2B5EF4-FFF2-40B4-BE49-F238E27FC236}">
                <a16:creationId xmlns:a16="http://schemas.microsoft.com/office/drawing/2014/main" id="{38073CED-52B3-1D60-1382-188B429547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42269" y="2459865"/>
            <a:ext cx="4887967" cy="3665975"/>
          </a:xfrm>
          <a:prstGeom prst="rect">
            <a:avLst/>
          </a:prstGeom>
        </p:spPr>
      </p:pic>
    </p:spTree>
    <p:extLst>
      <p:ext uri="{BB962C8B-B14F-4D97-AF65-F5344CB8AC3E}">
        <p14:creationId xmlns:p14="http://schemas.microsoft.com/office/powerpoint/2010/main" val="14075906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C83F8087-B112-8222-E85C-A98B632CB127}"/>
                  </a:ext>
                </a:extLst>
              </p:cNvPr>
              <p:cNvSpPr>
                <a:spLocks noGrp="1"/>
              </p:cNvSpPr>
              <p:nvPr>
                <p:ph type="title"/>
              </p:nvPr>
            </p:nvSpPr>
            <p:spPr/>
            <p:txBody>
              <a:bodyPr/>
              <a:lstStyle/>
              <a:p>
                <a14:m>
                  <m:oMath xmlns:m="http://schemas.openxmlformats.org/officeDocument/2006/math">
                    <m:sSup>
                      <m:sSupPr>
                        <m:ctrlPr>
                          <a:rPr lang="en-US" b="0" i="1" dirty="0" smtClean="0">
                            <a:latin typeface="Cambria Math" panose="02040503050406030204" pitchFamily="18" charset="0"/>
                          </a:rPr>
                        </m:ctrlPr>
                      </m:sSupPr>
                      <m:e>
                        <m:r>
                          <m:rPr>
                            <m:nor/>
                          </m:rPr>
                          <a:rPr lang="en-US" dirty="0" smtClean="0"/>
                          <m:t>Baseline</m:t>
                        </m:r>
                      </m:e>
                      <m:sup>
                        <m:r>
                          <a:rPr lang="en-US" b="0" i="1" dirty="0" smtClean="0">
                            <a:latin typeface="Cambria Math" panose="02040503050406030204" pitchFamily="18" charset="0"/>
                          </a:rPr>
                          <m:t>+</m:t>
                        </m:r>
                      </m:sup>
                    </m:sSup>
                  </m:oMath>
                </a14:m>
                <a:r>
                  <a:rPr lang="en-US" dirty="0"/>
                  <a:t> Result - </a:t>
                </a:r>
                <a:r>
                  <a:rPr lang="en-GB" dirty="0"/>
                  <a:t>Quantitative Results</a:t>
                </a:r>
              </a:p>
            </p:txBody>
          </p:sp>
        </mc:Choice>
        <mc:Fallback>
          <p:sp>
            <p:nvSpPr>
              <p:cNvPr id="2" name="Title 1">
                <a:extLst>
                  <a:ext uri="{FF2B5EF4-FFF2-40B4-BE49-F238E27FC236}">
                    <a16:creationId xmlns:a16="http://schemas.microsoft.com/office/drawing/2014/main" id="{C83F8087-B112-8222-E85C-A98B632CB127}"/>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en-GB">
                    <a:noFill/>
                  </a:rPr>
                  <a:t> </a:t>
                </a:r>
              </a:p>
            </p:txBody>
          </p:sp>
        </mc:Fallback>
      </mc:AlternateContent>
      <p:sp>
        <p:nvSpPr>
          <p:cNvPr id="3" name="Content Placeholder 2">
            <a:extLst>
              <a:ext uri="{FF2B5EF4-FFF2-40B4-BE49-F238E27FC236}">
                <a16:creationId xmlns:a16="http://schemas.microsoft.com/office/drawing/2014/main" id="{4EE6A19E-2656-692A-68E9-015E26871380}"/>
              </a:ext>
            </a:extLst>
          </p:cNvPr>
          <p:cNvSpPr>
            <a:spLocks noGrp="1"/>
          </p:cNvSpPr>
          <p:nvPr>
            <p:ph idx="1"/>
          </p:nvPr>
        </p:nvSpPr>
        <p:spPr/>
        <p:txBody>
          <a:bodyPr/>
          <a:lstStyle/>
          <a:p>
            <a:r>
              <a:rPr lang="en-US" dirty="0"/>
              <a:t>Did Quick quality check on first 10 images (Takes long time for entire 500 images)</a:t>
            </a:r>
          </a:p>
          <a:p>
            <a:pPr lvl="1"/>
            <a:r>
              <a:rPr lang="en-US" dirty="0"/>
              <a:t>Poor accuracy on finding </a:t>
            </a:r>
          </a:p>
          <a:p>
            <a:pPr lvl="2"/>
            <a:r>
              <a:rPr lang="en-US" dirty="0"/>
              <a:t>Valence 1: Single pixel (dead end)</a:t>
            </a:r>
            <a:endParaRPr lang="en-GB" dirty="0"/>
          </a:p>
          <a:p>
            <a:pPr lvl="2"/>
            <a:endParaRPr lang="en-GB" dirty="0"/>
          </a:p>
          <a:p>
            <a:pPr lvl="1"/>
            <a:r>
              <a:rPr lang="en-GB" dirty="0"/>
              <a:t>Not so good on finding </a:t>
            </a:r>
          </a:p>
          <a:p>
            <a:pPr lvl="2"/>
            <a:r>
              <a:rPr lang="en-GB" dirty="0"/>
              <a:t>Valence 3: T - Intersection</a:t>
            </a:r>
            <a:endParaRPr lang="en-US" dirty="0"/>
          </a:p>
        </p:txBody>
      </p:sp>
      <p:pic>
        <p:nvPicPr>
          <p:cNvPr id="5" name="Picture 4">
            <a:extLst>
              <a:ext uri="{FF2B5EF4-FFF2-40B4-BE49-F238E27FC236}">
                <a16:creationId xmlns:a16="http://schemas.microsoft.com/office/drawing/2014/main" id="{23167178-AC13-7C7E-22DB-3D8A0D73F712}"/>
              </a:ext>
            </a:extLst>
          </p:cNvPr>
          <p:cNvPicPr>
            <a:picLocks noChangeAspect="1"/>
          </p:cNvPicPr>
          <p:nvPr/>
        </p:nvPicPr>
        <p:blipFill>
          <a:blip r:embed="rId3"/>
          <a:stretch>
            <a:fillRect/>
          </a:stretch>
        </p:blipFill>
        <p:spPr>
          <a:xfrm>
            <a:off x="1355166" y="4511675"/>
            <a:ext cx="6429375" cy="1981200"/>
          </a:xfrm>
          <a:prstGeom prst="rect">
            <a:avLst/>
          </a:prstGeom>
        </p:spPr>
      </p:pic>
    </p:spTree>
    <p:extLst>
      <p:ext uri="{BB962C8B-B14F-4D97-AF65-F5344CB8AC3E}">
        <p14:creationId xmlns:p14="http://schemas.microsoft.com/office/powerpoint/2010/main" val="20858069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19429-3D8D-9982-7683-0D030BB8F289}"/>
              </a:ext>
            </a:extLst>
          </p:cNvPr>
          <p:cNvSpPr>
            <a:spLocks noGrp="1"/>
          </p:cNvSpPr>
          <p:nvPr>
            <p:ph type="title"/>
          </p:nvPr>
        </p:nvSpPr>
        <p:spPr/>
        <p:txBody>
          <a:bodyPr>
            <a:normAutofit/>
          </a:bodyPr>
          <a:lstStyle/>
          <a:p>
            <a:r>
              <a:rPr lang="en-US" sz="4000" dirty="0"/>
              <a:t>Reasoning – Poor performance on thicker roads</a:t>
            </a:r>
            <a:endParaRPr lang="en-GB" sz="4000" dirty="0"/>
          </a:p>
        </p:txBody>
      </p:sp>
      <p:sp>
        <p:nvSpPr>
          <p:cNvPr id="3" name="Content Placeholder 2">
            <a:extLst>
              <a:ext uri="{FF2B5EF4-FFF2-40B4-BE49-F238E27FC236}">
                <a16:creationId xmlns:a16="http://schemas.microsoft.com/office/drawing/2014/main" id="{36EC230E-4C57-9700-7E3D-A9E6E3AF2637}"/>
              </a:ext>
            </a:extLst>
          </p:cNvPr>
          <p:cNvSpPr>
            <a:spLocks noGrp="1"/>
          </p:cNvSpPr>
          <p:nvPr>
            <p:ph idx="1"/>
          </p:nvPr>
        </p:nvSpPr>
        <p:spPr/>
        <p:txBody>
          <a:bodyPr/>
          <a:lstStyle/>
          <a:p>
            <a:r>
              <a:rPr lang="en-GB" dirty="0"/>
              <a:t>Ambiguity in Ground Truth</a:t>
            </a:r>
          </a:p>
          <a:p>
            <a:r>
              <a:rPr lang="en-GB" dirty="0"/>
              <a:t>Baseline model uses supervised loss, it treat each pixel independently </a:t>
            </a:r>
          </a:p>
          <a:p>
            <a:r>
              <a:rPr lang="en-GB" dirty="0"/>
              <a:t>Penalize incorrect predictions equally when model is confident but wrong</a:t>
            </a:r>
          </a:p>
          <a:p>
            <a:endParaRPr lang="en-GB" dirty="0"/>
          </a:p>
        </p:txBody>
      </p:sp>
      <p:pic>
        <p:nvPicPr>
          <p:cNvPr id="4" name="Picture 2" descr="Uploaded image">
            <a:extLst>
              <a:ext uri="{FF2B5EF4-FFF2-40B4-BE49-F238E27FC236}">
                <a16:creationId xmlns:a16="http://schemas.microsoft.com/office/drawing/2014/main" id="{3FA6F1FC-0452-8FE1-829E-DF886D42FA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457" y="4559892"/>
            <a:ext cx="1503564" cy="150356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Uploaded image">
            <a:extLst>
              <a:ext uri="{FF2B5EF4-FFF2-40B4-BE49-F238E27FC236}">
                <a16:creationId xmlns:a16="http://schemas.microsoft.com/office/drawing/2014/main" id="{2C6EA0D7-37CE-CB38-9AE3-210D36A13D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7949" y="4558260"/>
            <a:ext cx="1503564" cy="150356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Uploaded image">
            <a:extLst>
              <a:ext uri="{FF2B5EF4-FFF2-40B4-BE49-F238E27FC236}">
                <a16:creationId xmlns:a16="http://schemas.microsoft.com/office/drawing/2014/main" id="{67AAE200-93B9-AE37-AB97-DEE29D044A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16908" y="4558260"/>
            <a:ext cx="1503564" cy="150356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8" descr="Uploaded image">
            <a:extLst>
              <a:ext uri="{FF2B5EF4-FFF2-40B4-BE49-F238E27FC236}">
                <a16:creationId xmlns:a16="http://schemas.microsoft.com/office/drawing/2014/main" id="{6504AAB0-843F-ECBF-1B61-852013CD825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70400" y="4558260"/>
            <a:ext cx="1503564" cy="150356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0" descr="Uploaded image">
            <a:extLst>
              <a:ext uri="{FF2B5EF4-FFF2-40B4-BE49-F238E27FC236}">
                <a16:creationId xmlns:a16="http://schemas.microsoft.com/office/drawing/2014/main" id="{15ADCFDD-C09E-80E5-16A0-F90F11BA9D1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715011" y="4558260"/>
            <a:ext cx="1503564" cy="150356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2" descr="Uploaded image">
            <a:extLst>
              <a:ext uri="{FF2B5EF4-FFF2-40B4-BE49-F238E27FC236}">
                <a16:creationId xmlns:a16="http://schemas.microsoft.com/office/drawing/2014/main" id="{F6A50A90-E184-5B0B-20FF-83CEB0401BA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284814" y="4558260"/>
            <a:ext cx="1503564" cy="15035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45376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66956-61AC-5745-E5E3-F16D749913E3}"/>
              </a:ext>
            </a:extLst>
          </p:cNvPr>
          <p:cNvSpPr>
            <a:spLocks noGrp="1"/>
          </p:cNvSpPr>
          <p:nvPr>
            <p:ph type="title"/>
          </p:nvPr>
        </p:nvSpPr>
        <p:spPr/>
        <p:txBody>
          <a:bodyPr/>
          <a:lstStyle/>
          <a:p>
            <a:r>
              <a:rPr lang="en-US" dirty="0"/>
              <a:t>Design iterations</a:t>
            </a:r>
            <a:endParaRPr lang="en-GB" dirty="0"/>
          </a:p>
        </p:txBody>
      </p:sp>
      <p:sp>
        <p:nvSpPr>
          <p:cNvPr id="3" name="Content Placeholder 2">
            <a:extLst>
              <a:ext uri="{FF2B5EF4-FFF2-40B4-BE49-F238E27FC236}">
                <a16:creationId xmlns:a16="http://schemas.microsoft.com/office/drawing/2014/main" id="{DB04EDB5-34A2-B556-4D89-849EE7F279F3}"/>
              </a:ext>
            </a:extLst>
          </p:cNvPr>
          <p:cNvSpPr>
            <a:spLocks noGrp="1"/>
          </p:cNvSpPr>
          <p:nvPr>
            <p:ph idx="1"/>
          </p:nvPr>
        </p:nvSpPr>
        <p:spPr/>
        <p:txBody>
          <a:bodyPr/>
          <a:lstStyle/>
          <a:p>
            <a:r>
              <a:rPr lang="en-GB" dirty="0"/>
              <a:t>Uses iteration method</a:t>
            </a:r>
          </a:p>
          <a:p>
            <a:pPr lvl="1"/>
            <a:r>
              <a:rPr lang="en-GB" dirty="0"/>
              <a:t>Slowing ‘eats away’ thicker roads in each iteration and make them appear like thinner roads</a:t>
            </a:r>
          </a:p>
          <a:p>
            <a:pPr marL="457200" lvl="1" indent="0">
              <a:buNone/>
            </a:pPr>
            <a:endParaRPr lang="en-GB" dirty="0"/>
          </a:p>
          <a:p>
            <a:endParaRPr lang="en-GB" dirty="0"/>
          </a:p>
        </p:txBody>
      </p:sp>
    </p:spTree>
    <p:extLst>
      <p:ext uri="{BB962C8B-B14F-4D97-AF65-F5344CB8AC3E}">
        <p14:creationId xmlns:p14="http://schemas.microsoft.com/office/powerpoint/2010/main" val="7680903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E9EE2-84D6-CCFF-79A5-2C2517D2462A}"/>
              </a:ext>
            </a:extLst>
          </p:cNvPr>
          <p:cNvSpPr>
            <a:spLocks noGrp="1"/>
          </p:cNvSpPr>
          <p:nvPr>
            <p:ph type="title"/>
          </p:nvPr>
        </p:nvSpPr>
        <p:spPr/>
        <p:txBody>
          <a:bodyPr/>
          <a:lstStyle/>
          <a:p>
            <a:r>
              <a:rPr lang="en-US" dirty="0"/>
              <a:t>Implementation of iterative method </a:t>
            </a:r>
            <a:endParaRPr lang="en-GB" dirty="0"/>
          </a:p>
        </p:txBody>
      </p:sp>
      <p:sp>
        <p:nvSpPr>
          <p:cNvPr id="3" name="Content Placeholder 2">
            <a:extLst>
              <a:ext uri="{FF2B5EF4-FFF2-40B4-BE49-F238E27FC236}">
                <a16:creationId xmlns:a16="http://schemas.microsoft.com/office/drawing/2014/main" id="{76A78B2F-B13D-BBEC-81A4-3F8810210584}"/>
              </a:ext>
            </a:extLst>
          </p:cNvPr>
          <p:cNvSpPr>
            <a:spLocks noGrp="1"/>
          </p:cNvSpPr>
          <p:nvPr>
            <p:ph idx="1"/>
          </p:nvPr>
        </p:nvSpPr>
        <p:spPr/>
        <p:txBody>
          <a:bodyPr/>
          <a:lstStyle/>
          <a:p>
            <a:r>
              <a:rPr lang="en-US" dirty="0"/>
              <a:t>Concept</a:t>
            </a:r>
          </a:p>
          <a:p>
            <a:pPr lvl="1"/>
            <a:r>
              <a:rPr lang="en-US" dirty="0"/>
              <a:t>Applies U-net repeatedly (same weight)</a:t>
            </a:r>
          </a:p>
          <a:p>
            <a:pPr lvl="1"/>
            <a:r>
              <a:rPr lang="en-US" dirty="0"/>
              <a:t>Each iteration, modulates input by current prediction</a:t>
            </a:r>
          </a:p>
          <a:p>
            <a:pPr lvl="1"/>
            <a:r>
              <a:rPr lang="en-US" dirty="0"/>
              <a:t>Eventually thin out thicker roads</a:t>
            </a:r>
          </a:p>
          <a:p>
            <a:pPr lvl="1"/>
            <a:endParaRPr lang="en-US" dirty="0"/>
          </a:p>
          <a:p>
            <a:r>
              <a:rPr lang="en-US" dirty="0"/>
              <a:t>Code implementation</a:t>
            </a:r>
          </a:p>
          <a:p>
            <a:pPr lvl="1"/>
            <a:endParaRPr lang="en-GB" dirty="0"/>
          </a:p>
        </p:txBody>
      </p:sp>
      <p:pic>
        <p:nvPicPr>
          <p:cNvPr id="5" name="Picture 4">
            <a:extLst>
              <a:ext uri="{FF2B5EF4-FFF2-40B4-BE49-F238E27FC236}">
                <a16:creationId xmlns:a16="http://schemas.microsoft.com/office/drawing/2014/main" id="{574497FB-43E5-E275-8575-85E0AB93E36F}"/>
              </a:ext>
            </a:extLst>
          </p:cNvPr>
          <p:cNvPicPr>
            <a:picLocks noChangeAspect="1"/>
          </p:cNvPicPr>
          <p:nvPr/>
        </p:nvPicPr>
        <p:blipFill>
          <a:blip r:embed="rId2"/>
          <a:stretch>
            <a:fillRect/>
          </a:stretch>
        </p:blipFill>
        <p:spPr>
          <a:xfrm>
            <a:off x="1463899" y="4358894"/>
            <a:ext cx="7010400" cy="2428875"/>
          </a:xfrm>
          <a:prstGeom prst="rect">
            <a:avLst/>
          </a:prstGeom>
        </p:spPr>
      </p:pic>
    </p:spTree>
    <p:extLst>
      <p:ext uri="{BB962C8B-B14F-4D97-AF65-F5344CB8AC3E}">
        <p14:creationId xmlns:p14="http://schemas.microsoft.com/office/powerpoint/2010/main" val="35985297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A7D55-A9CA-DFFD-59CB-82B0234D3DC8}"/>
              </a:ext>
            </a:extLst>
          </p:cNvPr>
          <p:cNvSpPr>
            <a:spLocks noGrp="1"/>
          </p:cNvSpPr>
          <p:nvPr>
            <p:ph type="title"/>
          </p:nvPr>
        </p:nvSpPr>
        <p:spPr/>
        <p:txBody>
          <a:bodyPr/>
          <a:lstStyle/>
          <a:p>
            <a:r>
              <a:rPr lang="en-US" dirty="0"/>
              <a:t>Implementation of iterative method </a:t>
            </a:r>
            <a:endParaRPr lang="en-GB" dirty="0"/>
          </a:p>
        </p:txBody>
      </p:sp>
      <p:sp>
        <p:nvSpPr>
          <p:cNvPr id="3" name="Content Placeholder 2">
            <a:extLst>
              <a:ext uri="{FF2B5EF4-FFF2-40B4-BE49-F238E27FC236}">
                <a16:creationId xmlns:a16="http://schemas.microsoft.com/office/drawing/2014/main" id="{E7D2C899-05E3-FEB1-6851-7EEBFB7F5116}"/>
              </a:ext>
            </a:extLst>
          </p:cNvPr>
          <p:cNvSpPr>
            <a:spLocks noGrp="1"/>
          </p:cNvSpPr>
          <p:nvPr>
            <p:ph idx="1"/>
          </p:nvPr>
        </p:nvSpPr>
        <p:spPr/>
        <p:txBody>
          <a:bodyPr/>
          <a:lstStyle/>
          <a:p>
            <a:r>
              <a:rPr lang="en-US" dirty="0"/>
              <a:t>Inherits U-net as superclass</a:t>
            </a:r>
          </a:p>
          <a:p>
            <a:pPr lvl="1"/>
            <a:r>
              <a:rPr lang="en-US" dirty="0"/>
              <a:t>Since applies U-net repeatedly </a:t>
            </a:r>
          </a:p>
          <a:p>
            <a:pPr lvl="1"/>
            <a:endParaRPr lang="en-US" dirty="0"/>
          </a:p>
          <a:p>
            <a:r>
              <a:rPr lang="en-US" dirty="0"/>
              <a:t>Iteration set to 5 </a:t>
            </a:r>
          </a:p>
          <a:p>
            <a:endParaRPr lang="en-US" dirty="0"/>
          </a:p>
          <a:p>
            <a:r>
              <a:rPr lang="en-US" dirty="0"/>
              <a:t>Applies sigmoid(logits) to do a soft prediction in the mid-way </a:t>
            </a:r>
          </a:p>
          <a:p>
            <a:pPr lvl="1"/>
            <a:r>
              <a:rPr lang="en-US" dirty="0"/>
              <a:t>Soft – masking the logits to probabilities</a:t>
            </a:r>
          </a:p>
          <a:p>
            <a:pPr lvl="1"/>
            <a:r>
              <a:rPr lang="en-US" dirty="0"/>
              <a:t>Can change threshold later on to determine what can be shown on the output </a:t>
            </a:r>
          </a:p>
          <a:p>
            <a:pPr lvl="1"/>
            <a:endParaRPr lang="en-US" dirty="0"/>
          </a:p>
          <a:p>
            <a:endParaRPr lang="en-US" dirty="0"/>
          </a:p>
          <a:p>
            <a:endParaRPr lang="en-GB" dirty="0"/>
          </a:p>
        </p:txBody>
      </p:sp>
    </p:spTree>
    <p:extLst>
      <p:ext uri="{BB962C8B-B14F-4D97-AF65-F5344CB8AC3E}">
        <p14:creationId xmlns:p14="http://schemas.microsoft.com/office/powerpoint/2010/main" val="17007871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A5685-5385-E9F5-61DA-9763771211F6}"/>
              </a:ext>
            </a:extLst>
          </p:cNvPr>
          <p:cNvSpPr>
            <a:spLocks noGrp="1"/>
          </p:cNvSpPr>
          <p:nvPr>
            <p:ph type="title"/>
          </p:nvPr>
        </p:nvSpPr>
        <p:spPr/>
        <p:txBody>
          <a:bodyPr/>
          <a:lstStyle/>
          <a:p>
            <a:r>
              <a:rPr lang="en-US" dirty="0"/>
              <a:t>Iteration Method - Result</a:t>
            </a:r>
            <a:endParaRPr lang="en-GB" dirty="0"/>
          </a:p>
        </p:txBody>
      </p:sp>
      <p:sp>
        <p:nvSpPr>
          <p:cNvPr id="3" name="Content Placeholder 2">
            <a:extLst>
              <a:ext uri="{FF2B5EF4-FFF2-40B4-BE49-F238E27FC236}">
                <a16:creationId xmlns:a16="http://schemas.microsoft.com/office/drawing/2014/main" id="{F84D3B6B-07B6-E6E0-DA07-63D5FA365759}"/>
              </a:ext>
            </a:extLst>
          </p:cNvPr>
          <p:cNvSpPr>
            <a:spLocks noGrp="1"/>
          </p:cNvSpPr>
          <p:nvPr>
            <p:ph idx="1"/>
          </p:nvPr>
        </p:nvSpPr>
        <p:spPr/>
        <p:txBody>
          <a:bodyPr/>
          <a:lstStyle/>
          <a:p>
            <a:r>
              <a:rPr lang="en-US" dirty="0"/>
              <a:t>Wider roads almost completely disappear</a:t>
            </a:r>
            <a:endParaRPr lang="en-GB" dirty="0"/>
          </a:p>
        </p:txBody>
      </p:sp>
      <p:pic>
        <p:nvPicPr>
          <p:cNvPr id="5" name="Picture 4" descr="A black and white image of a black and white image of a black and white image of a black and white image of a black and white image of a black and white image of a black and&#10;&#10;AI-generated content may be incorrect.">
            <a:extLst>
              <a:ext uri="{FF2B5EF4-FFF2-40B4-BE49-F238E27FC236}">
                <a16:creationId xmlns:a16="http://schemas.microsoft.com/office/drawing/2014/main" id="{0336F266-E4DC-CF32-D837-EF285B4ADC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44969" y="2963213"/>
            <a:ext cx="2438400" cy="2438400"/>
          </a:xfrm>
          <a:prstGeom prst="rect">
            <a:avLst/>
          </a:prstGeom>
        </p:spPr>
      </p:pic>
      <p:pic>
        <p:nvPicPr>
          <p:cNvPr id="7" name="Picture 6" descr="A black and white image of a key&#10;&#10;AI-generated content may be incorrect.">
            <a:extLst>
              <a:ext uri="{FF2B5EF4-FFF2-40B4-BE49-F238E27FC236}">
                <a16:creationId xmlns:a16="http://schemas.microsoft.com/office/drawing/2014/main" id="{78826154-74AF-A0C2-F702-9E62D2BE5B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31629" y="2963213"/>
            <a:ext cx="2438400" cy="2438400"/>
          </a:xfrm>
          <a:prstGeom prst="rect">
            <a:avLst/>
          </a:prstGeom>
        </p:spPr>
      </p:pic>
      <p:pic>
        <p:nvPicPr>
          <p:cNvPr id="9" name="Picture 8" descr="A white silhouette of a key&#10;&#10;AI-generated content may be incorrect.">
            <a:extLst>
              <a:ext uri="{FF2B5EF4-FFF2-40B4-BE49-F238E27FC236}">
                <a16:creationId xmlns:a16="http://schemas.microsoft.com/office/drawing/2014/main" id="{C28158D4-8AAF-CFED-03DC-426E61CE36A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1971" y="2963213"/>
            <a:ext cx="2438400" cy="2438400"/>
          </a:xfrm>
          <a:prstGeom prst="rect">
            <a:avLst/>
          </a:prstGeom>
        </p:spPr>
      </p:pic>
      <p:pic>
        <p:nvPicPr>
          <p:cNvPr id="11" name="Picture 10" descr="A white line drawing of a guitar&#10;&#10;AI-generated content may be incorrect.">
            <a:extLst>
              <a:ext uri="{FF2B5EF4-FFF2-40B4-BE49-F238E27FC236}">
                <a16:creationId xmlns:a16="http://schemas.microsoft.com/office/drawing/2014/main" id="{B1682D2D-B575-30D7-2929-A1B74BB0A13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11662" y="2963213"/>
            <a:ext cx="2438400" cy="2438400"/>
          </a:xfrm>
          <a:prstGeom prst="rect">
            <a:avLst/>
          </a:prstGeom>
        </p:spPr>
      </p:pic>
    </p:spTree>
    <p:extLst>
      <p:ext uri="{BB962C8B-B14F-4D97-AF65-F5344CB8AC3E}">
        <p14:creationId xmlns:p14="http://schemas.microsoft.com/office/powerpoint/2010/main" val="33024196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7D97D-620B-5726-D619-67BB6C333D91}"/>
              </a:ext>
            </a:extLst>
          </p:cNvPr>
          <p:cNvSpPr>
            <a:spLocks noGrp="1"/>
          </p:cNvSpPr>
          <p:nvPr>
            <p:ph type="title"/>
          </p:nvPr>
        </p:nvSpPr>
        <p:spPr/>
        <p:txBody>
          <a:bodyPr/>
          <a:lstStyle/>
          <a:p>
            <a:r>
              <a:rPr lang="en-US" dirty="0"/>
              <a:t>Reasoning - Poor performance on wider roads </a:t>
            </a:r>
            <a:endParaRPr lang="en-GB"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1043377-7510-2CB2-D187-8E176BF6F694}"/>
                  </a:ext>
                </a:extLst>
              </p:cNvPr>
              <p:cNvSpPr>
                <a:spLocks noGrp="1"/>
              </p:cNvSpPr>
              <p:nvPr>
                <p:ph idx="1"/>
              </p:nvPr>
            </p:nvSpPr>
            <p:spPr/>
            <p:txBody>
              <a:bodyPr/>
              <a:lstStyle/>
              <a:p>
                <a:r>
                  <a:rPr lang="en-US" dirty="0"/>
                  <a:t>Iteration is too much, they eat the wider roads away completely </a:t>
                </a:r>
              </a:p>
              <a:p>
                <a:endParaRPr lang="en-US" dirty="0"/>
              </a:p>
              <a:p>
                <a:r>
                  <a:rPr lang="en-US" dirty="0"/>
                  <a:t>Mask Threshold for imaging generation set too low</a:t>
                </a:r>
              </a:p>
              <a:p>
                <a:pPr lvl="1"/>
                <a:r>
                  <a:rPr lang="en-US" dirty="0"/>
                  <a:t>Wider roads tend to ambiguous </a:t>
                </a:r>
                <a:r>
                  <a:rPr lang="en-GB" dirty="0"/>
                  <a:t>→ Lower confidence compared to thin roads</a:t>
                </a:r>
              </a:p>
              <a:p>
                <a:pPr lvl="2"/>
                <a14:m>
                  <m:oMath xmlns:m="http://schemas.openxmlformats.org/officeDocument/2006/math">
                    <m:r>
                      <a:rPr lang="en-US" b="0" i="1" smtClean="0">
                        <a:latin typeface="Cambria Math" panose="02040503050406030204" pitchFamily="18" charset="0"/>
                      </a:rPr>
                      <m:t>𝑇h𝑟𝑒𝑠h𝑜𝑙</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𝑡h𝑖𝑛𝑟𝑜𝑎𝑑</m:t>
                        </m:r>
                      </m:sub>
                    </m:sSub>
                    <m:r>
                      <a:rPr lang="en-US" b="0" i="1" smtClean="0">
                        <a:latin typeface="Cambria Math" panose="02040503050406030204" pitchFamily="18" charset="0"/>
                      </a:rPr>
                      <m:t>&gt;</m:t>
                    </m:r>
                    <m:r>
                      <a:rPr lang="en-US" b="0" i="1" smtClean="0">
                        <a:latin typeface="Cambria Math" panose="02040503050406030204" pitchFamily="18" charset="0"/>
                      </a:rPr>
                      <m:t>𝑇h𝑟𝑒𝑠h𝑜𝑙</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𝑤𝑖𝑑𝑒𝑟𝑜𝑎𝑑</m:t>
                        </m:r>
                      </m:sub>
                    </m:sSub>
                  </m:oMath>
                </a14:m>
                <a:endParaRPr lang="en-GB" dirty="0"/>
              </a:p>
              <a:p>
                <a:pPr lvl="2"/>
                <a:endParaRPr lang="en-GB" dirty="0"/>
              </a:p>
            </p:txBody>
          </p:sp>
        </mc:Choice>
        <mc:Fallback>
          <p:sp>
            <p:nvSpPr>
              <p:cNvPr id="3" name="Content Placeholder 2">
                <a:extLst>
                  <a:ext uri="{FF2B5EF4-FFF2-40B4-BE49-F238E27FC236}">
                    <a16:creationId xmlns:a16="http://schemas.microsoft.com/office/drawing/2014/main" id="{41043377-7510-2CB2-D187-8E176BF6F694}"/>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GB">
                    <a:noFill/>
                  </a:rPr>
                  <a:t> </a:t>
                </a:r>
              </a:p>
            </p:txBody>
          </p:sp>
        </mc:Fallback>
      </mc:AlternateContent>
    </p:spTree>
    <p:extLst>
      <p:ext uri="{BB962C8B-B14F-4D97-AF65-F5344CB8AC3E}">
        <p14:creationId xmlns:p14="http://schemas.microsoft.com/office/powerpoint/2010/main" val="29691682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B353A5A5-3711-C059-4D98-F11EB6A77109}"/>
                  </a:ext>
                </a:extLst>
              </p:cNvPr>
              <p:cNvSpPr>
                <a:spLocks noGrp="1"/>
              </p:cNvSpPr>
              <p:nvPr>
                <p:ph type="title"/>
              </p:nvPr>
            </p:nvSpPr>
            <p:spPr/>
            <p:txBody>
              <a:bodyPr/>
              <a:lstStyle/>
              <a:p>
                <a:r>
                  <a:rPr lang="en-US" dirty="0"/>
                  <a:t>Design iterations – Iteration  </a:t>
                </a:r>
                <a:r>
                  <a:rPr lang="en-GB" dirty="0"/>
                  <a:t>→</a:t>
                </a:r>
                <a:r>
                  <a:rPr lang="en-US" dirty="0"/>
                  <a:t>  </a:t>
                </a:r>
                <a14:m>
                  <m:oMath xmlns:m="http://schemas.openxmlformats.org/officeDocument/2006/math">
                    <m:sSup>
                      <m:sSupPr>
                        <m:ctrlPr>
                          <a:rPr lang="en-US" b="0" i="1" dirty="0" smtClean="0">
                            <a:latin typeface="Cambria Math" panose="02040503050406030204" pitchFamily="18" charset="0"/>
                          </a:rPr>
                        </m:ctrlPr>
                      </m:sSupPr>
                      <m:e>
                        <m:r>
                          <m:rPr>
                            <m:nor/>
                          </m:rPr>
                          <a:rPr lang="en-US" dirty="0"/>
                          <m:t>Iteration</m:t>
                        </m:r>
                      </m:e>
                      <m:sup>
                        <m:r>
                          <a:rPr lang="en-US" b="0" i="1" dirty="0" smtClean="0">
                            <a:latin typeface="Cambria Math" panose="02040503050406030204" pitchFamily="18" charset="0"/>
                          </a:rPr>
                          <m:t>+</m:t>
                        </m:r>
                      </m:sup>
                    </m:sSup>
                  </m:oMath>
                </a14:m>
                <a:endParaRPr lang="en-GB" dirty="0"/>
              </a:p>
            </p:txBody>
          </p:sp>
        </mc:Choice>
        <mc:Fallback>
          <p:sp>
            <p:nvSpPr>
              <p:cNvPr id="2" name="Title 1">
                <a:extLst>
                  <a:ext uri="{FF2B5EF4-FFF2-40B4-BE49-F238E27FC236}">
                    <a16:creationId xmlns:a16="http://schemas.microsoft.com/office/drawing/2014/main" id="{B353A5A5-3711-C059-4D98-F11EB6A77109}"/>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GB">
                    <a:noFill/>
                  </a:rPr>
                  <a:t> </a:t>
                </a:r>
              </a:p>
            </p:txBody>
          </p:sp>
        </mc:Fallback>
      </mc:AlternateContent>
      <p:sp>
        <p:nvSpPr>
          <p:cNvPr id="3" name="Content Placeholder 2">
            <a:extLst>
              <a:ext uri="{FF2B5EF4-FFF2-40B4-BE49-F238E27FC236}">
                <a16:creationId xmlns:a16="http://schemas.microsoft.com/office/drawing/2014/main" id="{F4A82671-AE41-F857-5654-44A7C0CAF37E}"/>
              </a:ext>
            </a:extLst>
          </p:cNvPr>
          <p:cNvSpPr>
            <a:spLocks noGrp="1"/>
          </p:cNvSpPr>
          <p:nvPr>
            <p:ph idx="1"/>
          </p:nvPr>
        </p:nvSpPr>
        <p:spPr/>
        <p:txBody>
          <a:bodyPr/>
          <a:lstStyle/>
          <a:p>
            <a:r>
              <a:rPr lang="en-US" dirty="0"/>
              <a:t>Reduce iteration levels </a:t>
            </a:r>
          </a:p>
          <a:p>
            <a:endParaRPr lang="en-US" dirty="0"/>
          </a:p>
          <a:p>
            <a:endParaRPr lang="en-US" dirty="0"/>
          </a:p>
          <a:p>
            <a:endParaRPr lang="en-US" dirty="0"/>
          </a:p>
          <a:p>
            <a:endParaRPr lang="en-US" dirty="0"/>
          </a:p>
          <a:p>
            <a:r>
              <a:rPr lang="en-US" dirty="0"/>
              <a:t>Lower Mask Threshold</a:t>
            </a:r>
          </a:p>
          <a:p>
            <a:endParaRPr lang="en-GB" dirty="0"/>
          </a:p>
        </p:txBody>
      </p:sp>
      <p:pic>
        <p:nvPicPr>
          <p:cNvPr id="5" name="Picture 4">
            <a:extLst>
              <a:ext uri="{FF2B5EF4-FFF2-40B4-BE49-F238E27FC236}">
                <a16:creationId xmlns:a16="http://schemas.microsoft.com/office/drawing/2014/main" id="{16151C13-6B6D-63CA-B550-7C42E36C735B}"/>
              </a:ext>
            </a:extLst>
          </p:cNvPr>
          <p:cNvPicPr>
            <a:picLocks noChangeAspect="1"/>
          </p:cNvPicPr>
          <p:nvPr/>
        </p:nvPicPr>
        <p:blipFill>
          <a:blip r:embed="rId3"/>
          <a:stretch>
            <a:fillRect/>
          </a:stretch>
        </p:blipFill>
        <p:spPr>
          <a:xfrm>
            <a:off x="1171843" y="2282579"/>
            <a:ext cx="5969492" cy="2077383"/>
          </a:xfrm>
          <a:prstGeom prst="rect">
            <a:avLst/>
          </a:prstGeom>
        </p:spPr>
      </p:pic>
      <p:pic>
        <p:nvPicPr>
          <p:cNvPr id="7" name="Picture 6">
            <a:extLst>
              <a:ext uri="{FF2B5EF4-FFF2-40B4-BE49-F238E27FC236}">
                <a16:creationId xmlns:a16="http://schemas.microsoft.com/office/drawing/2014/main" id="{FE7E803E-9C14-C768-5F9B-045699E8F4BF}"/>
              </a:ext>
            </a:extLst>
          </p:cNvPr>
          <p:cNvPicPr>
            <a:picLocks noChangeAspect="1"/>
          </p:cNvPicPr>
          <p:nvPr/>
        </p:nvPicPr>
        <p:blipFill>
          <a:blip r:embed="rId4"/>
          <a:stretch>
            <a:fillRect/>
          </a:stretch>
        </p:blipFill>
        <p:spPr>
          <a:xfrm>
            <a:off x="1171843" y="4941661"/>
            <a:ext cx="5038725" cy="228600"/>
          </a:xfrm>
          <a:prstGeom prst="rect">
            <a:avLst/>
          </a:prstGeom>
        </p:spPr>
      </p:pic>
    </p:spTree>
    <p:extLst>
      <p:ext uri="{BB962C8B-B14F-4D97-AF65-F5344CB8AC3E}">
        <p14:creationId xmlns:p14="http://schemas.microsoft.com/office/powerpoint/2010/main" val="15567664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D48BE782-4454-D03C-7903-F6FF4DD3B598}"/>
                  </a:ext>
                </a:extLst>
              </p:cNvPr>
              <p:cNvSpPr>
                <a:spLocks noGrp="1"/>
              </p:cNvSpPr>
              <p:nvPr>
                <p:ph type="title"/>
              </p:nvPr>
            </p:nvSpPr>
            <p:spPr/>
            <p:txBody>
              <a:bodyPr/>
              <a:lstStyle/>
              <a:p>
                <a14:m>
                  <m:oMath xmlns:m="http://schemas.openxmlformats.org/officeDocument/2006/math">
                    <m:sSup>
                      <m:sSupPr>
                        <m:ctrlPr>
                          <a:rPr lang="en-US" b="0" i="1" dirty="0" smtClean="0">
                            <a:latin typeface="Cambria Math" panose="02040503050406030204" pitchFamily="18" charset="0"/>
                          </a:rPr>
                        </m:ctrlPr>
                      </m:sSupPr>
                      <m:e>
                        <m:r>
                          <m:rPr>
                            <m:nor/>
                          </m:rPr>
                          <a:rPr lang="en-US" dirty="0"/>
                          <m:t>Iteration</m:t>
                        </m:r>
                      </m:e>
                      <m:sup>
                        <m:r>
                          <a:rPr lang="en-US" b="0" i="1" dirty="0" smtClean="0">
                            <a:latin typeface="Cambria Math" panose="02040503050406030204" pitchFamily="18" charset="0"/>
                          </a:rPr>
                          <m:t>+</m:t>
                        </m:r>
                      </m:sup>
                    </m:sSup>
                  </m:oMath>
                </a14:m>
                <a:r>
                  <a:rPr lang="en-GB" dirty="0"/>
                  <a:t> Result</a:t>
                </a:r>
              </a:p>
            </p:txBody>
          </p:sp>
        </mc:Choice>
        <mc:Fallback>
          <p:sp>
            <p:nvSpPr>
              <p:cNvPr id="2" name="Title 1">
                <a:extLst>
                  <a:ext uri="{FF2B5EF4-FFF2-40B4-BE49-F238E27FC236}">
                    <a16:creationId xmlns:a16="http://schemas.microsoft.com/office/drawing/2014/main" id="{D48BE782-4454-D03C-7903-F6FF4DD3B598}"/>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en-GB">
                    <a:noFill/>
                  </a:rPr>
                  <a:t> </a:t>
                </a:r>
              </a:p>
            </p:txBody>
          </p:sp>
        </mc:Fallback>
      </mc:AlternateContent>
      <p:sp>
        <p:nvSpPr>
          <p:cNvPr id="3" name="Content Placeholder 2">
            <a:extLst>
              <a:ext uri="{FF2B5EF4-FFF2-40B4-BE49-F238E27FC236}">
                <a16:creationId xmlns:a16="http://schemas.microsoft.com/office/drawing/2014/main" id="{57FB8B4E-1828-538B-DA27-9347381394C4}"/>
              </a:ext>
            </a:extLst>
          </p:cNvPr>
          <p:cNvSpPr>
            <a:spLocks noGrp="1"/>
          </p:cNvSpPr>
          <p:nvPr>
            <p:ph idx="1"/>
          </p:nvPr>
        </p:nvSpPr>
        <p:spPr/>
        <p:txBody>
          <a:bodyPr/>
          <a:lstStyle/>
          <a:p>
            <a:r>
              <a:rPr lang="en-US" dirty="0"/>
              <a:t>These result are shown in the First Few Slides (3, 4, 5, 6)</a:t>
            </a:r>
            <a:endParaRPr lang="en-GB" dirty="0"/>
          </a:p>
        </p:txBody>
      </p:sp>
    </p:spTree>
    <p:extLst>
      <p:ext uri="{BB962C8B-B14F-4D97-AF65-F5344CB8AC3E}">
        <p14:creationId xmlns:p14="http://schemas.microsoft.com/office/powerpoint/2010/main" val="20500287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708B3-89F5-5BBE-7608-3FCB7BBD0753}"/>
              </a:ext>
            </a:extLst>
          </p:cNvPr>
          <p:cNvSpPr>
            <a:spLocks noGrp="1"/>
          </p:cNvSpPr>
          <p:nvPr>
            <p:ph type="title"/>
          </p:nvPr>
        </p:nvSpPr>
        <p:spPr/>
        <p:txBody>
          <a:bodyPr/>
          <a:lstStyle/>
          <a:p>
            <a:r>
              <a:rPr lang="en-GB" i="0" dirty="0">
                <a:solidFill>
                  <a:srgbClr val="231F20"/>
                </a:solidFill>
                <a:effectLst/>
                <a:latin typeface="LatoWeb"/>
              </a:rPr>
              <a:t>Ablation Study</a:t>
            </a:r>
            <a:endParaRPr lang="en-GB" dirty="0"/>
          </a:p>
        </p:txBody>
      </p:sp>
      <p:sp>
        <p:nvSpPr>
          <p:cNvPr id="3" name="Content Placeholder 2">
            <a:extLst>
              <a:ext uri="{FF2B5EF4-FFF2-40B4-BE49-F238E27FC236}">
                <a16:creationId xmlns:a16="http://schemas.microsoft.com/office/drawing/2014/main" id="{AA007A10-4DFC-DF81-5FF1-0943B1CDB29C}"/>
              </a:ext>
            </a:extLst>
          </p:cNvPr>
          <p:cNvSpPr>
            <a:spLocks noGrp="1"/>
          </p:cNvSpPr>
          <p:nvPr>
            <p:ph idx="1"/>
          </p:nvPr>
        </p:nvSpPr>
        <p:spPr/>
        <p:txBody>
          <a:bodyPr>
            <a:normAutofit fontScale="92500" lnSpcReduction="20000"/>
          </a:bodyPr>
          <a:lstStyle/>
          <a:p>
            <a:r>
              <a:rPr lang="en-US" dirty="0"/>
              <a:t>All training runs are done under                    Where:</a:t>
            </a:r>
          </a:p>
          <a:p>
            <a:endParaRPr lang="en-US" dirty="0"/>
          </a:p>
          <a:p>
            <a:pPr lvl="1"/>
            <a:r>
              <a:rPr lang="en-US" dirty="0"/>
              <a:t> it applies a simpler version of U-net </a:t>
            </a:r>
          </a:p>
          <a:p>
            <a:pPr lvl="2"/>
            <a:r>
              <a:rPr lang="en-US" dirty="0"/>
              <a:t>1 down and 1 up</a:t>
            </a:r>
          </a:p>
          <a:p>
            <a:pPr lvl="1"/>
            <a:endParaRPr lang="en-US" dirty="0"/>
          </a:p>
          <a:p>
            <a:pPr lvl="1"/>
            <a:r>
              <a:rPr lang="en-US" dirty="0"/>
              <a:t>Fewer Training images</a:t>
            </a:r>
          </a:p>
          <a:p>
            <a:pPr lvl="2"/>
            <a:r>
              <a:rPr lang="en-US" dirty="0"/>
              <a:t>Uses first 20 images</a:t>
            </a:r>
          </a:p>
          <a:p>
            <a:pPr lvl="2"/>
            <a:endParaRPr lang="en-US" dirty="0"/>
          </a:p>
          <a:p>
            <a:pPr lvl="1"/>
            <a:r>
              <a:rPr lang="en-US" dirty="0"/>
              <a:t>No validation split</a:t>
            </a:r>
          </a:p>
          <a:p>
            <a:pPr lvl="1"/>
            <a:endParaRPr lang="en-US" dirty="0"/>
          </a:p>
          <a:p>
            <a:pPr lvl="1"/>
            <a:r>
              <a:rPr lang="en-GB" dirty="0"/>
              <a:t>Configurations can be seen at the top-left</a:t>
            </a:r>
          </a:p>
          <a:p>
            <a:pPr lvl="1"/>
            <a:endParaRPr lang="en-GB" dirty="0"/>
          </a:p>
          <a:p>
            <a:pPr lvl="1"/>
            <a:r>
              <a:rPr lang="en-GB" dirty="0"/>
              <a:t> Left middle image will be compared as input and ground truth</a:t>
            </a:r>
          </a:p>
        </p:txBody>
      </p:sp>
      <p:pic>
        <p:nvPicPr>
          <p:cNvPr id="5" name="Picture 4">
            <a:extLst>
              <a:ext uri="{FF2B5EF4-FFF2-40B4-BE49-F238E27FC236}">
                <a16:creationId xmlns:a16="http://schemas.microsoft.com/office/drawing/2014/main" id="{EE750C1F-B245-6786-26C4-36E48DC23DAA}"/>
              </a:ext>
            </a:extLst>
          </p:cNvPr>
          <p:cNvPicPr>
            <a:picLocks noChangeAspect="1"/>
          </p:cNvPicPr>
          <p:nvPr/>
        </p:nvPicPr>
        <p:blipFill>
          <a:blip r:embed="rId3"/>
          <a:stretch>
            <a:fillRect/>
          </a:stretch>
        </p:blipFill>
        <p:spPr>
          <a:xfrm>
            <a:off x="5666436" y="1846375"/>
            <a:ext cx="1181100" cy="247650"/>
          </a:xfrm>
          <a:prstGeom prst="rect">
            <a:avLst/>
          </a:prstGeom>
        </p:spPr>
      </p:pic>
      <p:pic>
        <p:nvPicPr>
          <p:cNvPr id="6" name="Picture 5">
            <a:extLst>
              <a:ext uri="{FF2B5EF4-FFF2-40B4-BE49-F238E27FC236}">
                <a16:creationId xmlns:a16="http://schemas.microsoft.com/office/drawing/2014/main" id="{8B45EC5C-9A18-D39B-3898-432E3CF3DE29}"/>
              </a:ext>
            </a:extLst>
          </p:cNvPr>
          <p:cNvPicPr>
            <a:picLocks noChangeAspect="1"/>
          </p:cNvPicPr>
          <p:nvPr/>
        </p:nvPicPr>
        <p:blipFill>
          <a:blip r:embed="rId4"/>
          <a:stretch>
            <a:fillRect/>
          </a:stretch>
        </p:blipFill>
        <p:spPr>
          <a:xfrm>
            <a:off x="8632534" y="159443"/>
            <a:ext cx="3429777" cy="1217724"/>
          </a:xfrm>
          <a:prstGeom prst="rect">
            <a:avLst/>
          </a:prstGeom>
        </p:spPr>
      </p:pic>
      <p:pic>
        <p:nvPicPr>
          <p:cNvPr id="7" name="Picture 6" descr="A white silhouette of a plane&#10;&#10;AI-generated content may be incorrect.">
            <a:extLst>
              <a:ext uri="{FF2B5EF4-FFF2-40B4-BE49-F238E27FC236}">
                <a16:creationId xmlns:a16="http://schemas.microsoft.com/office/drawing/2014/main" id="{0741137A-7AB0-DD15-28F9-BA9722A635C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32534" y="2860183"/>
            <a:ext cx="1589468" cy="1589468"/>
          </a:xfrm>
          <a:prstGeom prst="rect">
            <a:avLst/>
          </a:prstGeom>
        </p:spPr>
      </p:pic>
      <p:pic>
        <p:nvPicPr>
          <p:cNvPr id="8" name="Picture 7" descr="A map of a runway&#10;&#10;AI-generated content may be incorrect.">
            <a:extLst>
              <a:ext uri="{FF2B5EF4-FFF2-40B4-BE49-F238E27FC236}">
                <a16:creationId xmlns:a16="http://schemas.microsoft.com/office/drawing/2014/main" id="{63591CE5-6A81-11E8-0072-BA08C654C78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472843" y="2860183"/>
            <a:ext cx="1589468" cy="1589468"/>
          </a:xfrm>
          <a:prstGeom prst="rect">
            <a:avLst/>
          </a:prstGeom>
        </p:spPr>
      </p:pic>
    </p:spTree>
    <p:extLst>
      <p:ext uri="{BB962C8B-B14F-4D97-AF65-F5344CB8AC3E}">
        <p14:creationId xmlns:p14="http://schemas.microsoft.com/office/powerpoint/2010/main" val="1990307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CE8DF-9CF2-4E96-E723-7C6AF78B1CD1}"/>
              </a:ext>
            </a:extLst>
          </p:cNvPr>
          <p:cNvSpPr>
            <a:spLocks noGrp="1"/>
          </p:cNvSpPr>
          <p:nvPr>
            <p:ph type="title"/>
          </p:nvPr>
        </p:nvSpPr>
        <p:spPr/>
        <p:txBody>
          <a:bodyPr/>
          <a:lstStyle/>
          <a:p>
            <a:r>
              <a:rPr lang="en-GB" i="0" dirty="0">
                <a:solidFill>
                  <a:srgbClr val="231F20"/>
                </a:solidFill>
                <a:effectLst/>
                <a:latin typeface="LatoWeb"/>
              </a:rPr>
              <a:t>Ablation Study – Learning rate</a:t>
            </a:r>
            <a:endParaRPr lang="en-GB" dirty="0"/>
          </a:p>
        </p:txBody>
      </p:sp>
      <p:sp>
        <p:nvSpPr>
          <p:cNvPr id="3" name="Content Placeholder 2">
            <a:extLst>
              <a:ext uri="{FF2B5EF4-FFF2-40B4-BE49-F238E27FC236}">
                <a16:creationId xmlns:a16="http://schemas.microsoft.com/office/drawing/2014/main" id="{FFC36743-1327-FFF9-AE1A-9A043B034745}"/>
              </a:ext>
            </a:extLst>
          </p:cNvPr>
          <p:cNvSpPr>
            <a:spLocks noGrp="1"/>
          </p:cNvSpPr>
          <p:nvPr>
            <p:ph idx="1"/>
          </p:nvPr>
        </p:nvSpPr>
        <p:spPr/>
        <p:txBody>
          <a:bodyPr>
            <a:normAutofit/>
          </a:bodyPr>
          <a:lstStyle/>
          <a:p>
            <a:r>
              <a:rPr lang="en-US" sz="2400" dirty="0"/>
              <a:t>How learning rates affect convergencies and predictions </a:t>
            </a:r>
            <a:endParaRPr lang="en-GB" sz="2400" dirty="0"/>
          </a:p>
        </p:txBody>
      </p:sp>
      <p:pic>
        <p:nvPicPr>
          <p:cNvPr id="7" name="Picture 6" descr="A graph with blue dots&#10;&#10;AI-generated content may be incorrect.">
            <a:extLst>
              <a:ext uri="{FF2B5EF4-FFF2-40B4-BE49-F238E27FC236}">
                <a16:creationId xmlns:a16="http://schemas.microsoft.com/office/drawing/2014/main" id="{72B66D81-EDB7-5425-5966-C9479152C9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95" y="2243915"/>
            <a:ext cx="2438400" cy="1828800"/>
          </a:xfrm>
          <a:prstGeom prst="rect">
            <a:avLst/>
          </a:prstGeom>
        </p:spPr>
      </p:pic>
      <p:sp>
        <p:nvSpPr>
          <p:cNvPr id="8" name="TextBox 7">
            <a:extLst>
              <a:ext uri="{FF2B5EF4-FFF2-40B4-BE49-F238E27FC236}">
                <a16:creationId xmlns:a16="http://schemas.microsoft.com/office/drawing/2014/main" id="{CD0BD85B-CE2B-1DDD-8BC0-DC55405DE4A3}"/>
              </a:ext>
            </a:extLst>
          </p:cNvPr>
          <p:cNvSpPr txBox="1"/>
          <p:nvPr/>
        </p:nvSpPr>
        <p:spPr>
          <a:xfrm>
            <a:off x="747571" y="6176963"/>
            <a:ext cx="1410236" cy="369332"/>
          </a:xfrm>
          <a:prstGeom prst="rect">
            <a:avLst/>
          </a:prstGeom>
          <a:noFill/>
        </p:spPr>
        <p:txBody>
          <a:bodyPr wrap="square" rtlCol="0">
            <a:spAutoFit/>
          </a:bodyPr>
          <a:lstStyle/>
          <a:p>
            <a:r>
              <a:rPr lang="en-US" dirty="0"/>
              <a:t>Lr = 1e-5</a:t>
            </a:r>
            <a:endParaRPr lang="en-GB" dirty="0"/>
          </a:p>
        </p:txBody>
      </p:sp>
      <p:pic>
        <p:nvPicPr>
          <p:cNvPr id="12" name="Picture 11" descr="A black and white image of a key&#10;&#10;AI-generated content may be incorrect.">
            <a:extLst>
              <a:ext uri="{FF2B5EF4-FFF2-40B4-BE49-F238E27FC236}">
                <a16:creationId xmlns:a16="http://schemas.microsoft.com/office/drawing/2014/main" id="{53C384BF-D181-F50D-99F7-26E16C284E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4252" y="4116519"/>
            <a:ext cx="1828800" cy="1828800"/>
          </a:xfrm>
          <a:prstGeom prst="rect">
            <a:avLst/>
          </a:prstGeom>
        </p:spPr>
      </p:pic>
      <p:pic>
        <p:nvPicPr>
          <p:cNvPr id="14" name="Picture 13" descr="A black background with a black square&#10;&#10;AI-generated content may be incorrect.">
            <a:extLst>
              <a:ext uri="{FF2B5EF4-FFF2-40B4-BE49-F238E27FC236}">
                <a16:creationId xmlns:a16="http://schemas.microsoft.com/office/drawing/2014/main" id="{BFA16EE2-81E7-240A-87F8-0794333C6F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60749" y="4198982"/>
            <a:ext cx="1828800" cy="1828800"/>
          </a:xfrm>
          <a:prstGeom prst="rect">
            <a:avLst/>
          </a:prstGeom>
        </p:spPr>
      </p:pic>
      <p:pic>
        <p:nvPicPr>
          <p:cNvPr id="16" name="Picture 15" descr="A graph with a line&#10;&#10;AI-generated content may be incorrect.">
            <a:extLst>
              <a:ext uri="{FF2B5EF4-FFF2-40B4-BE49-F238E27FC236}">
                <a16:creationId xmlns:a16="http://schemas.microsoft.com/office/drawing/2014/main" id="{9C75CAFF-6738-56FA-3739-39900B093A8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409348" y="2243915"/>
            <a:ext cx="2438400" cy="1828800"/>
          </a:xfrm>
          <a:prstGeom prst="rect">
            <a:avLst/>
          </a:prstGeom>
        </p:spPr>
      </p:pic>
      <p:sp>
        <p:nvSpPr>
          <p:cNvPr id="17" name="TextBox 16">
            <a:extLst>
              <a:ext uri="{FF2B5EF4-FFF2-40B4-BE49-F238E27FC236}">
                <a16:creationId xmlns:a16="http://schemas.microsoft.com/office/drawing/2014/main" id="{507647F5-C760-6029-646E-97B84DDCC3D8}"/>
              </a:ext>
            </a:extLst>
          </p:cNvPr>
          <p:cNvSpPr txBox="1"/>
          <p:nvPr/>
        </p:nvSpPr>
        <p:spPr>
          <a:xfrm>
            <a:off x="10179313" y="6176963"/>
            <a:ext cx="1410236" cy="369332"/>
          </a:xfrm>
          <a:prstGeom prst="rect">
            <a:avLst/>
          </a:prstGeom>
          <a:noFill/>
        </p:spPr>
        <p:txBody>
          <a:bodyPr wrap="square" rtlCol="0">
            <a:spAutoFit/>
          </a:bodyPr>
          <a:lstStyle/>
          <a:p>
            <a:r>
              <a:rPr lang="en-US" dirty="0"/>
              <a:t>Lr = 1e-1</a:t>
            </a:r>
            <a:endParaRPr lang="en-GB" dirty="0"/>
          </a:p>
        </p:txBody>
      </p:sp>
      <p:pic>
        <p:nvPicPr>
          <p:cNvPr id="19" name="Picture 18" descr="A graph of a training loss&#10;&#10;AI-generated content may be incorrect.">
            <a:extLst>
              <a:ext uri="{FF2B5EF4-FFF2-40B4-BE49-F238E27FC236}">
                <a16:creationId xmlns:a16="http://schemas.microsoft.com/office/drawing/2014/main" id="{EE206465-752C-A66B-94C1-00211CF8CDC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372221" y="2247136"/>
            <a:ext cx="2438400" cy="1828800"/>
          </a:xfrm>
          <a:prstGeom prst="rect">
            <a:avLst/>
          </a:prstGeom>
        </p:spPr>
      </p:pic>
      <p:sp>
        <p:nvSpPr>
          <p:cNvPr id="20" name="TextBox 19">
            <a:extLst>
              <a:ext uri="{FF2B5EF4-FFF2-40B4-BE49-F238E27FC236}">
                <a16:creationId xmlns:a16="http://schemas.microsoft.com/office/drawing/2014/main" id="{0DA89523-2AFF-3C24-8097-53E8C3FC386C}"/>
              </a:ext>
            </a:extLst>
          </p:cNvPr>
          <p:cNvSpPr txBox="1"/>
          <p:nvPr/>
        </p:nvSpPr>
        <p:spPr>
          <a:xfrm>
            <a:off x="3156731" y="6176963"/>
            <a:ext cx="1410236" cy="369332"/>
          </a:xfrm>
          <a:prstGeom prst="rect">
            <a:avLst/>
          </a:prstGeom>
          <a:noFill/>
        </p:spPr>
        <p:txBody>
          <a:bodyPr wrap="square" rtlCol="0">
            <a:spAutoFit/>
          </a:bodyPr>
          <a:lstStyle/>
          <a:p>
            <a:r>
              <a:rPr lang="en-US" dirty="0"/>
              <a:t>Lr = 1e-4</a:t>
            </a:r>
            <a:endParaRPr lang="en-GB" dirty="0"/>
          </a:p>
        </p:txBody>
      </p:sp>
      <p:pic>
        <p:nvPicPr>
          <p:cNvPr id="22" name="Picture 21" descr="A white key with black background&#10;&#10;AI-generated content may be incorrect.">
            <a:extLst>
              <a:ext uri="{FF2B5EF4-FFF2-40B4-BE49-F238E27FC236}">
                <a16:creationId xmlns:a16="http://schemas.microsoft.com/office/drawing/2014/main" id="{B7DF12A4-81DF-1C21-0FB3-2B08A69AEC1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738167" y="4176852"/>
            <a:ext cx="1828800" cy="1828800"/>
          </a:xfrm>
          <a:prstGeom prst="rect">
            <a:avLst/>
          </a:prstGeom>
        </p:spPr>
      </p:pic>
      <p:pic>
        <p:nvPicPr>
          <p:cNvPr id="24" name="Picture 23" descr="A graph with blue dots&#10;&#10;AI-generated content may be incorrect.">
            <a:extLst>
              <a:ext uri="{FF2B5EF4-FFF2-40B4-BE49-F238E27FC236}">
                <a16:creationId xmlns:a16="http://schemas.microsoft.com/office/drawing/2014/main" id="{B7EE0A2D-7FFF-21D5-EA73-94843052893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638350" y="2253814"/>
            <a:ext cx="2438400" cy="1828800"/>
          </a:xfrm>
          <a:prstGeom prst="rect">
            <a:avLst/>
          </a:prstGeom>
        </p:spPr>
      </p:pic>
      <p:sp>
        <p:nvSpPr>
          <p:cNvPr id="25" name="TextBox 24">
            <a:extLst>
              <a:ext uri="{FF2B5EF4-FFF2-40B4-BE49-F238E27FC236}">
                <a16:creationId xmlns:a16="http://schemas.microsoft.com/office/drawing/2014/main" id="{1F4EF3F4-8CA3-A55A-1013-3D01679550CD}"/>
              </a:ext>
            </a:extLst>
          </p:cNvPr>
          <p:cNvSpPr txBox="1"/>
          <p:nvPr/>
        </p:nvSpPr>
        <p:spPr>
          <a:xfrm>
            <a:off x="5329472" y="6183641"/>
            <a:ext cx="1410236" cy="369332"/>
          </a:xfrm>
          <a:prstGeom prst="rect">
            <a:avLst/>
          </a:prstGeom>
          <a:noFill/>
        </p:spPr>
        <p:txBody>
          <a:bodyPr wrap="square" rtlCol="0">
            <a:spAutoFit/>
          </a:bodyPr>
          <a:lstStyle/>
          <a:p>
            <a:r>
              <a:rPr lang="en-US" dirty="0"/>
              <a:t>Lr = 1e-3</a:t>
            </a:r>
            <a:endParaRPr lang="en-GB" dirty="0"/>
          </a:p>
        </p:txBody>
      </p:sp>
      <p:pic>
        <p:nvPicPr>
          <p:cNvPr id="27" name="Picture 26" descr="A black and white image of a key&#10;&#10;AI-generated content may be incorrect.">
            <a:extLst>
              <a:ext uri="{FF2B5EF4-FFF2-40B4-BE49-F238E27FC236}">
                <a16:creationId xmlns:a16="http://schemas.microsoft.com/office/drawing/2014/main" id="{2D8B8FD2-5E2F-7E96-2C93-73210EAD26B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925686" y="4195977"/>
            <a:ext cx="1828800" cy="1828800"/>
          </a:xfrm>
          <a:prstGeom prst="rect">
            <a:avLst/>
          </a:prstGeom>
        </p:spPr>
      </p:pic>
      <p:pic>
        <p:nvPicPr>
          <p:cNvPr id="29" name="Picture 28" descr="A black background with white dots&#10;&#10;AI-generated content may be incorrect.">
            <a:extLst>
              <a:ext uri="{FF2B5EF4-FFF2-40B4-BE49-F238E27FC236}">
                <a16:creationId xmlns:a16="http://schemas.microsoft.com/office/drawing/2014/main" id="{A7F794A4-17A7-7CD3-BA88-990115A3732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283533" y="4195977"/>
            <a:ext cx="1828800" cy="1828800"/>
          </a:xfrm>
          <a:prstGeom prst="rect">
            <a:avLst/>
          </a:prstGeom>
        </p:spPr>
      </p:pic>
      <p:pic>
        <p:nvPicPr>
          <p:cNvPr id="31" name="Picture 30" descr="A graph with blue dots&#10;&#10;AI-generated content may be incorrect.">
            <a:extLst>
              <a:ext uri="{FF2B5EF4-FFF2-40B4-BE49-F238E27FC236}">
                <a16:creationId xmlns:a16="http://schemas.microsoft.com/office/drawing/2014/main" id="{D0567AEF-EBB7-00F9-5DEA-7C8E7C7861A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978733" y="2268412"/>
            <a:ext cx="2438400" cy="1828800"/>
          </a:xfrm>
          <a:prstGeom prst="rect">
            <a:avLst/>
          </a:prstGeom>
        </p:spPr>
      </p:pic>
      <p:sp>
        <p:nvSpPr>
          <p:cNvPr id="32" name="TextBox 31">
            <a:extLst>
              <a:ext uri="{FF2B5EF4-FFF2-40B4-BE49-F238E27FC236}">
                <a16:creationId xmlns:a16="http://schemas.microsoft.com/office/drawing/2014/main" id="{160279C1-DB43-D5FB-1F4A-4127B5213209}"/>
              </a:ext>
            </a:extLst>
          </p:cNvPr>
          <p:cNvSpPr txBox="1"/>
          <p:nvPr/>
        </p:nvSpPr>
        <p:spPr>
          <a:xfrm>
            <a:off x="7625035" y="6183641"/>
            <a:ext cx="1410236" cy="369332"/>
          </a:xfrm>
          <a:prstGeom prst="rect">
            <a:avLst/>
          </a:prstGeom>
          <a:noFill/>
        </p:spPr>
        <p:txBody>
          <a:bodyPr wrap="square" rtlCol="0">
            <a:spAutoFit/>
          </a:bodyPr>
          <a:lstStyle/>
          <a:p>
            <a:r>
              <a:rPr lang="en-US" dirty="0"/>
              <a:t>Lr = 1e-2</a:t>
            </a:r>
            <a:endParaRPr lang="en-GB" dirty="0"/>
          </a:p>
        </p:txBody>
      </p:sp>
      <p:pic>
        <p:nvPicPr>
          <p:cNvPr id="34" name="Picture 33" descr="A white silhouette of a plane&#10;&#10;AI-generated content may be incorrect.">
            <a:extLst>
              <a:ext uri="{FF2B5EF4-FFF2-40B4-BE49-F238E27FC236}">
                <a16:creationId xmlns:a16="http://schemas.microsoft.com/office/drawing/2014/main" id="{5FCE8D04-716F-9964-6B22-3A8912338F62}"/>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8622399" y="611476"/>
            <a:ext cx="1589468" cy="1589468"/>
          </a:xfrm>
          <a:prstGeom prst="rect">
            <a:avLst/>
          </a:prstGeom>
        </p:spPr>
      </p:pic>
      <p:pic>
        <p:nvPicPr>
          <p:cNvPr id="35" name="Picture 34" descr="A map of a runway&#10;&#10;AI-generated content may be incorrect.">
            <a:extLst>
              <a:ext uri="{FF2B5EF4-FFF2-40B4-BE49-F238E27FC236}">
                <a16:creationId xmlns:a16="http://schemas.microsoft.com/office/drawing/2014/main" id="{50626EBC-0423-9D75-78A5-A0174AD075F9}"/>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0462708" y="611476"/>
            <a:ext cx="1589468" cy="1589468"/>
          </a:xfrm>
          <a:prstGeom prst="rect">
            <a:avLst/>
          </a:prstGeom>
        </p:spPr>
      </p:pic>
    </p:spTree>
    <p:extLst>
      <p:ext uri="{BB962C8B-B14F-4D97-AF65-F5344CB8AC3E}">
        <p14:creationId xmlns:p14="http://schemas.microsoft.com/office/powerpoint/2010/main" val="6916063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948EA-3B1A-A64B-E692-F52D3E7CC2C3}"/>
              </a:ext>
            </a:extLst>
          </p:cNvPr>
          <p:cNvSpPr>
            <a:spLocks noGrp="1"/>
          </p:cNvSpPr>
          <p:nvPr>
            <p:ph type="title"/>
          </p:nvPr>
        </p:nvSpPr>
        <p:spPr/>
        <p:txBody>
          <a:bodyPr/>
          <a:lstStyle/>
          <a:p>
            <a:r>
              <a:rPr lang="en-GB" i="0" dirty="0">
                <a:solidFill>
                  <a:srgbClr val="231F20"/>
                </a:solidFill>
                <a:effectLst/>
                <a:latin typeface="LatoWeb"/>
              </a:rPr>
              <a:t>Ablation Study – Learning rate</a:t>
            </a:r>
            <a:endParaRPr lang="en-GB" dirty="0"/>
          </a:p>
        </p:txBody>
      </p:sp>
      <p:sp>
        <p:nvSpPr>
          <p:cNvPr id="3" name="Content Placeholder 2">
            <a:extLst>
              <a:ext uri="{FF2B5EF4-FFF2-40B4-BE49-F238E27FC236}">
                <a16:creationId xmlns:a16="http://schemas.microsoft.com/office/drawing/2014/main" id="{2A62CE94-3032-F7ED-3136-54B8AC7F7472}"/>
              </a:ext>
            </a:extLst>
          </p:cNvPr>
          <p:cNvSpPr>
            <a:spLocks noGrp="1"/>
          </p:cNvSpPr>
          <p:nvPr>
            <p:ph idx="1"/>
          </p:nvPr>
        </p:nvSpPr>
        <p:spPr/>
        <p:txBody>
          <a:bodyPr/>
          <a:lstStyle/>
          <a:p>
            <a:r>
              <a:rPr lang="en-US" dirty="0"/>
              <a:t>Large learning rate</a:t>
            </a:r>
          </a:p>
          <a:p>
            <a:pPr lvl="1"/>
            <a:r>
              <a:rPr lang="en-US" dirty="0"/>
              <a:t>Fast convergence</a:t>
            </a:r>
          </a:p>
          <a:p>
            <a:pPr lvl="1"/>
            <a:r>
              <a:rPr lang="en-US" dirty="0"/>
              <a:t>Risk being over confident</a:t>
            </a:r>
          </a:p>
          <a:p>
            <a:pPr lvl="2"/>
            <a:r>
              <a:rPr lang="en-US" dirty="0"/>
              <a:t>Being overconfident in background pixels, suppressing protentional thin structures</a:t>
            </a:r>
          </a:p>
          <a:p>
            <a:pPr lvl="1"/>
            <a:endParaRPr lang="en-US" dirty="0"/>
          </a:p>
          <a:p>
            <a:r>
              <a:rPr lang="en-US" dirty="0"/>
              <a:t>Result</a:t>
            </a:r>
          </a:p>
          <a:p>
            <a:pPr lvl="1"/>
            <a:r>
              <a:rPr lang="en-US" dirty="0"/>
              <a:t>Loss appears to be nice </a:t>
            </a:r>
          </a:p>
          <a:p>
            <a:pPr lvl="1"/>
            <a:r>
              <a:rPr lang="en-US" dirty="0"/>
              <a:t>Prediction are empty or sparse </a:t>
            </a:r>
            <a:endParaRPr lang="en-GB" dirty="0"/>
          </a:p>
        </p:txBody>
      </p:sp>
    </p:spTree>
    <p:extLst>
      <p:ext uri="{BB962C8B-B14F-4D97-AF65-F5344CB8AC3E}">
        <p14:creationId xmlns:p14="http://schemas.microsoft.com/office/powerpoint/2010/main" val="7241068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6C0D9-2CFA-D3D3-53A7-BFCA559195C4}"/>
              </a:ext>
            </a:extLst>
          </p:cNvPr>
          <p:cNvSpPr>
            <a:spLocks noGrp="1"/>
          </p:cNvSpPr>
          <p:nvPr>
            <p:ph type="title"/>
          </p:nvPr>
        </p:nvSpPr>
        <p:spPr/>
        <p:txBody>
          <a:bodyPr/>
          <a:lstStyle/>
          <a:p>
            <a:r>
              <a:rPr lang="en-GB" i="0" dirty="0">
                <a:solidFill>
                  <a:srgbClr val="231F20"/>
                </a:solidFill>
                <a:effectLst/>
                <a:latin typeface="LatoWeb"/>
              </a:rPr>
              <a:t>Ablation Study – optimizer </a:t>
            </a:r>
            <a:endParaRPr lang="en-GB" dirty="0"/>
          </a:p>
        </p:txBody>
      </p:sp>
      <p:graphicFrame>
        <p:nvGraphicFramePr>
          <p:cNvPr id="4" name="Content Placeholder 3">
            <a:extLst>
              <a:ext uri="{FF2B5EF4-FFF2-40B4-BE49-F238E27FC236}">
                <a16:creationId xmlns:a16="http://schemas.microsoft.com/office/drawing/2014/main" id="{EEC8D5C0-2022-A4B0-1D58-A58239211610}"/>
              </a:ext>
            </a:extLst>
          </p:cNvPr>
          <p:cNvGraphicFramePr>
            <a:graphicFrameLocks noGrp="1"/>
          </p:cNvGraphicFramePr>
          <p:nvPr>
            <p:ph idx="1"/>
            <p:extLst>
              <p:ext uri="{D42A27DB-BD31-4B8C-83A1-F6EECF244321}">
                <p14:modId xmlns:p14="http://schemas.microsoft.com/office/powerpoint/2010/main" val="4118437291"/>
              </p:ext>
            </p:extLst>
          </p:nvPr>
        </p:nvGraphicFramePr>
        <p:xfrm>
          <a:off x="2023057" y="2501765"/>
          <a:ext cx="7698520" cy="2937390"/>
        </p:xfrm>
        <a:graphic>
          <a:graphicData uri="http://schemas.openxmlformats.org/drawingml/2006/table">
            <a:tbl>
              <a:tblPr/>
              <a:tblGrid>
                <a:gridCol w="1924630">
                  <a:extLst>
                    <a:ext uri="{9D8B030D-6E8A-4147-A177-3AD203B41FA5}">
                      <a16:colId xmlns:a16="http://schemas.microsoft.com/office/drawing/2014/main" val="1231468388"/>
                    </a:ext>
                  </a:extLst>
                </a:gridCol>
                <a:gridCol w="1924630">
                  <a:extLst>
                    <a:ext uri="{9D8B030D-6E8A-4147-A177-3AD203B41FA5}">
                      <a16:colId xmlns:a16="http://schemas.microsoft.com/office/drawing/2014/main" val="429647212"/>
                    </a:ext>
                  </a:extLst>
                </a:gridCol>
                <a:gridCol w="1924630">
                  <a:extLst>
                    <a:ext uri="{9D8B030D-6E8A-4147-A177-3AD203B41FA5}">
                      <a16:colId xmlns:a16="http://schemas.microsoft.com/office/drawing/2014/main" val="7628058"/>
                    </a:ext>
                  </a:extLst>
                </a:gridCol>
                <a:gridCol w="1924630">
                  <a:extLst>
                    <a:ext uri="{9D8B030D-6E8A-4147-A177-3AD203B41FA5}">
                      <a16:colId xmlns:a16="http://schemas.microsoft.com/office/drawing/2014/main" val="3130200704"/>
                    </a:ext>
                  </a:extLst>
                </a:gridCol>
              </a:tblGrid>
              <a:tr h="468606">
                <a:tc>
                  <a:txBody>
                    <a:bodyPr/>
                    <a:lstStyle/>
                    <a:p>
                      <a:r>
                        <a:rPr lang="en-GB" sz="1300" b="1" dirty="0"/>
                        <a:t>Optimizer</a:t>
                      </a:r>
                      <a:endParaRPr lang="en-GB" sz="1300" dirty="0"/>
                    </a:p>
                  </a:txBody>
                  <a:tcPr marL="66944" marR="66944" marT="33472" marB="33472" anchor="ctr">
                    <a:lnL>
                      <a:noFill/>
                    </a:lnL>
                    <a:lnR>
                      <a:noFill/>
                    </a:lnR>
                    <a:lnT>
                      <a:noFill/>
                    </a:lnT>
                    <a:lnB>
                      <a:noFill/>
                    </a:lnB>
                    <a:noFill/>
                  </a:tcPr>
                </a:tc>
                <a:tc>
                  <a:txBody>
                    <a:bodyPr/>
                    <a:lstStyle/>
                    <a:p>
                      <a:r>
                        <a:rPr lang="en-GB" sz="1300" b="1" dirty="0"/>
                        <a:t>Description</a:t>
                      </a:r>
                      <a:endParaRPr lang="en-GB" sz="1300" dirty="0"/>
                    </a:p>
                  </a:txBody>
                  <a:tcPr marL="66944" marR="66944" marT="33472" marB="33472" anchor="ctr">
                    <a:lnL>
                      <a:noFill/>
                    </a:lnL>
                    <a:lnR>
                      <a:noFill/>
                    </a:lnR>
                    <a:lnT>
                      <a:noFill/>
                    </a:lnT>
                    <a:lnB>
                      <a:noFill/>
                    </a:lnB>
                    <a:noFill/>
                  </a:tcPr>
                </a:tc>
                <a:tc>
                  <a:txBody>
                    <a:bodyPr/>
                    <a:lstStyle/>
                    <a:p>
                      <a:r>
                        <a:rPr lang="en-GB" sz="1300" b="1"/>
                        <a:t>Pros</a:t>
                      </a:r>
                      <a:endParaRPr lang="en-GB" sz="1300"/>
                    </a:p>
                  </a:txBody>
                  <a:tcPr marL="66944" marR="66944" marT="33472" marB="33472" anchor="ctr">
                    <a:lnL>
                      <a:noFill/>
                    </a:lnL>
                    <a:lnR>
                      <a:noFill/>
                    </a:lnR>
                    <a:lnT>
                      <a:noFill/>
                    </a:lnT>
                    <a:lnB>
                      <a:noFill/>
                    </a:lnB>
                    <a:noFill/>
                  </a:tcPr>
                </a:tc>
                <a:tc>
                  <a:txBody>
                    <a:bodyPr/>
                    <a:lstStyle/>
                    <a:p>
                      <a:r>
                        <a:rPr lang="en-GB" sz="1300" b="1" dirty="0"/>
                        <a:t>Potential Use Case</a:t>
                      </a:r>
                      <a:endParaRPr lang="en-GB" sz="1300" dirty="0"/>
                    </a:p>
                  </a:txBody>
                  <a:tcPr marL="66944" marR="66944" marT="33472" marB="33472" anchor="ctr">
                    <a:lnL>
                      <a:noFill/>
                    </a:lnL>
                    <a:lnR>
                      <a:noFill/>
                    </a:lnR>
                    <a:lnT>
                      <a:noFill/>
                    </a:lnT>
                    <a:lnB>
                      <a:noFill/>
                    </a:lnB>
                    <a:noFill/>
                  </a:tcPr>
                </a:tc>
                <a:extLst>
                  <a:ext uri="{0D108BD9-81ED-4DB2-BD59-A6C34878D82A}">
                    <a16:rowId xmlns:a16="http://schemas.microsoft.com/office/drawing/2014/main" val="3260351315"/>
                  </a:ext>
                </a:extLst>
              </a:tr>
              <a:tr h="669437">
                <a:tc>
                  <a:txBody>
                    <a:bodyPr/>
                    <a:lstStyle/>
                    <a:p>
                      <a:r>
                        <a:rPr lang="en-GB" sz="1300" b="1" dirty="0" err="1"/>
                        <a:t>AdamW</a:t>
                      </a:r>
                      <a:endParaRPr lang="en-GB" sz="1300" dirty="0"/>
                    </a:p>
                  </a:txBody>
                  <a:tcPr marL="66944" marR="66944" marT="33472" marB="33472" anchor="ctr">
                    <a:lnL>
                      <a:noFill/>
                    </a:lnL>
                    <a:lnR>
                      <a:noFill/>
                    </a:lnR>
                    <a:lnT>
                      <a:noFill/>
                    </a:lnT>
                    <a:lnB>
                      <a:noFill/>
                    </a:lnB>
                    <a:noFill/>
                  </a:tcPr>
                </a:tc>
                <a:tc>
                  <a:txBody>
                    <a:bodyPr/>
                    <a:lstStyle/>
                    <a:p>
                      <a:r>
                        <a:rPr lang="en-GB" sz="1300"/>
                        <a:t>Decouples weight decay from gradient update</a:t>
                      </a:r>
                    </a:p>
                  </a:txBody>
                  <a:tcPr marL="66944" marR="66944" marT="33472" marB="33472" anchor="ctr">
                    <a:lnL>
                      <a:noFill/>
                    </a:lnL>
                    <a:lnR>
                      <a:noFill/>
                    </a:lnR>
                    <a:lnT>
                      <a:noFill/>
                    </a:lnT>
                    <a:lnB>
                      <a:noFill/>
                    </a:lnB>
                    <a:noFill/>
                  </a:tcPr>
                </a:tc>
                <a:tc>
                  <a:txBody>
                    <a:bodyPr/>
                    <a:lstStyle/>
                    <a:p>
                      <a:r>
                        <a:rPr lang="en-GB" sz="1300"/>
                        <a:t>More reliable regularization than Adam</a:t>
                      </a:r>
                    </a:p>
                  </a:txBody>
                  <a:tcPr marL="66944" marR="66944" marT="33472" marB="33472" anchor="ctr">
                    <a:lnL>
                      <a:noFill/>
                    </a:lnL>
                    <a:lnR>
                      <a:noFill/>
                    </a:lnR>
                    <a:lnT>
                      <a:noFill/>
                    </a:lnT>
                    <a:lnB>
                      <a:noFill/>
                    </a:lnB>
                    <a:noFill/>
                  </a:tcPr>
                </a:tc>
                <a:tc>
                  <a:txBody>
                    <a:bodyPr/>
                    <a:lstStyle/>
                    <a:p>
                      <a:r>
                        <a:rPr lang="en-GB" sz="1300" dirty="0"/>
                        <a:t>Often preferred in segmentation tasks</a:t>
                      </a:r>
                    </a:p>
                  </a:txBody>
                  <a:tcPr marL="66944" marR="66944" marT="33472" marB="33472" anchor="ctr">
                    <a:lnL>
                      <a:noFill/>
                    </a:lnL>
                    <a:lnR>
                      <a:noFill/>
                    </a:lnR>
                    <a:lnT>
                      <a:noFill/>
                    </a:lnT>
                    <a:lnB>
                      <a:noFill/>
                    </a:lnB>
                    <a:noFill/>
                  </a:tcPr>
                </a:tc>
                <a:extLst>
                  <a:ext uri="{0D108BD9-81ED-4DB2-BD59-A6C34878D82A}">
                    <a16:rowId xmlns:a16="http://schemas.microsoft.com/office/drawing/2014/main" val="564903705"/>
                  </a:ext>
                </a:extLst>
              </a:tr>
              <a:tr h="468606">
                <a:tc>
                  <a:txBody>
                    <a:bodyPr/>
                    <a:lstStyle/>
                    <a:p>
                      <a:r>
                        <a:rPr lang="en-GB" sz="1300" b="1" dirty="0"/>
                        <a:t>RMSprop</a:t>
                      </a:r>
                      <a:endParaRPr lang="en-GB" sz="1300" dirty="0"/>
                    </a:p>
                  </a:txBody>
                  <a:tcPr marL="66944" marR="66944" marT="33472" marB="33472" anchor="ctr">
                    <a:lnL>
                      <a:noFill/>
                    </a:lnL>
                    <a:lnR>
                      <a:noFill/>
                    </a:lnR>
                    <a:lnT>
                      <a:noFill/>
                    </a:lnT>
                    <a:lnB>
                      <a:noFill/>
                    </a:lnB>
                    <a:noFill/>
                  </a:tcPr>
                </a:tc>
                <a:tc>
                  <a:txBody>
                    <a:bodyPr/>
                    <a:lstStyle/>
                    <a:p>
                      <a:r>
                        <a:rPr lang="en-GB" sz="1300"/>
                        <a:t>Normalizes gradient by moving average</a:t>
                      </a:r>
                    </a:p>
                  </a:txBody>
                  <a:tcPr marL="66944" marR="66944" marT="33472" marB="33472" anchor="ctr">
                    <a:lnL>
                      <a:noFill/>
                    </a:lnL>
                    <a:lnR>
                      <a:noFill/>
                    </a:lnR>
                    <a:lnT>
                      <a:noFill/>
                    </a:lnT>
                    <a:lnB>
                      <a:noFill/>
                    </a:lnB>
                    <a:noFill/>
                  </a:tcPr>
                </a:tc>
                <a:tc>
                  <a:txBody>
                    <a:bodyPr/>
                    <a:lstStyle/>
                    <a:p>
                      <a:r>
                        <a:rPr lang="en-GB" sz="1300"/>
                        <a:t>Good for noisy gradients</a:t>
                      </a:r>
                    </a:p>
                  </a:txBody>
                  <a:tcPr marL="66944" marR="66944" marT="33472" marB="33472" anchor="ctr">
                    <a:lnL>
                      <a:noFill/>
                    </a:lnL>
                    <a:lnR>
                      <a:noFill/>
                    </a:lnR>
                    <a:lnT>
                      <a:noFill/>
                    </a:lnT>
                    <a:lnB>
                      <a:noFill/>
                    </a:lnB>
                    <a:noFill/>
                  </a:tcPr>
                </a:tc>
                <a:tc>
                  <a:txBody>
                    <a:bodyPr/>
                    <a:lstStyle/>
                    <a:p>
                      <a:r>
                        <a:rPr lang="en-GB" sz="1300"/>
                        <a:t>Works well in recurrent or noisy setups</a:t>
                      </a:r>
                    </a:p>
                  </a:txBody>
                  <a:tcPr marL="66944" marR="66944" marT="33472" marB="33472" anchor="ctr">
                    <a:lnL>
                      <a:noFill/>
                    </a:lnL>
                    <a:lnR>
                      <a:noFill/>
                    </a:lnR>
                    <a:lnT>
                      <a:noFill/>
                    </a:lnT>
                    <a:lnB>
                      <a:noFill/>
                    </a:lnB>
                    <a:noFill/>
                  </a:tcPr>
                </a:tc>
                <a:extLst>
                  <a:ext uri="{0D108BD9-81ED-4DB2-BD59-A6C34878D82A}">
                    <a16:rowId xmlns:a16="http://schemas.microsoft.com/office/drawing/2014/main" val="3169913160"/>
                  </a:ext>
                </a:extLst>
              </a:tr>
              <a:tr h="669437">
                <a:tc>
                  <a:txBody>
                    <a:bodyPr/>
                    <a:lstStyle/>
                    <a:p>
                      <a:r>
                        <a:rPr lang="en-GB" sz="1300" b="1" dirty="0" err="1"/>
                        <a:t>Adagrad</a:t>
                      </a:r>
                      <a:endParaRPr lang="en-GB" sz="1300" dirty="0"/>
                    </a:p>
                  </a:txBody>
                  <a:tcPr marL="66944" marR="66944" marT="33472" marB="33472" anchor="ctr">
                    <a:lnL>
                      <a:noFill/>
                    </a:lnL>
                    <a:lnR>
                      <a:noFill/>
                    </a:lnR>
                    <a:lnT>
                      <a:noFill/>
                    </a:lnT>
                    <a:lnB>
                      <a:noFill/>
                    </a:lnB>
                    <a:noFill/>
                  </a:tcPr>
                </a:tc>
                <a:tc>
                  <a:txBody>
                    <a:bodyPr/>
                    <a:lstStyle/>
                    <a:p>
                      <a:r>
                        <a:rPr lang="en-GB" sz="1300"/>
                        <a:t>Adapts learning rate based on parameter history</a:t>
                      </a:r>
                    </a:p>
                  </a:txBody>
                  <a:tcPr marL="66944" marR="66944" marT="33472" marB="33472" anchor="ctr">
                    <a:lnL>
                      <a:noFill/>
                    </a:lnL>
                    <a:lnR>
                      <a:noFill/>
                    </a:lnR>
                    <a:lnT>
                      <a:noFill/>
                    </a:lnT>
                    <a:lnB>
                      <a:noFill/>
                    </a:lnB>
                    <a:noFill/>
                  </a:tcPr>
                </a:tc>
                <a:tc>
                  <a:txBody>
                    <a:bodyPr/>
                    <a:lstStyle/>
                    <a:p>
                      <a:r>
                        <a:rPr lang="en-GB" sz="1300"/>
                        <a:t>Fast convergence for sparse data</a:t>
                      </a:r>
                    </a:p>
                  </a:txBody>
                  <a:tcPr marL="66944" marR="66944" marT="33472" marB="33472" anchor="ctr">
                    <a:lnL>
                      <a:noFill/>
                    </a:lnL>
                    <a:lnR>
                      <a:noFill/>
                    </a:lnR>
                    <a:lnT>
                      <a:noFill/>
                    </a:lnT>
                    <a:lnB>
                      <a:noFill/>
                    </a:lnB>
                    <a:noFill/>
                  </a:tcPr>
                </a:tc>
                <a:tc>
                  <a:txBody>
                    <a:bodyPr/>
                    <a:lstStyle/>
                    <a:p>
                      <a:r>
                        <a:rPr lang="en-GB" sz="1300"/>
                        <a:t>Less common now; can stall due to learning rate decay</a:t>
                      </a:r>
                    </a:p>
                  </a:txBody>
                  <a:tcPr marL="66944" marR="66944" marT="33472" marB="33472" anchor="ctr">
                    <a:lnL>
                      <a:noFill/>
                    </a:lnL>
                    <a:lnR>
                      <a:noFill/>
                    </a:lnR>
                    <a:lnT>
                      <a:noFill/>
                    </a:lnT>
                    <a:lnB>
                      <a:noFill/>
                    </a:lnB>
                    <a:noFill/>
                  </a:tcPr>
                </a:tc>
                <a:extLst>
                  <a:ext uri="{0D108BD9-81ED-4DB2-BD59-A6C34878D82A}">
                    <a16:rowId xmlns:a16="http://schemas.microsoft.com/office/drawing/2014/main" val="830671444"/>
                  </a:ext>
                </a:extLst>
              </a:tr>
              <a:tr h="468606">
                <a:tc>
                  <a:txBody>
                    <a:bodyPr/>
                    <a:lstStyle/>
                    <a:p>
                      <a:r>
                        <a:rPr lang="en-GB" sz="1300" b="1" dirty="0"/>
                        <a:t>SGD</a:t>
                      </a:r>
                      <a:r>
                        <a:rPr lang="en-GB" sz="1300" dirty="0"/>
                        <a:t> (Stochastic Gradient Descent)</a:t>
                      </a:r>
                    </a:p>
                  </a:txBody>
                  <a:tcPr marL="66944" marR="66944" marT="33472" marB="33472" anchor="ctr">
                    <a:lnL>
                      <a:noFill/>
                    </a:lnL>
                    <a:lnR>
                      <a:noFill/>
                    </a:lnR>
                    <a:lnT>
                      <a:noFill/>
                    </a:lnT>
                    <a:lnB>
                      <a:noFill/>
                    </a:lnB>
                    <a:noFill/>
                  </a:tcPr>
                </a:tc>
                <a:tc>
                  <a:txBody>
                    <a:bodyPr/>
                    <a:lstStyle/>
                    <a:p>
                      <a:r>
                        <a:rPr lang="en-GB" sz="1300"/>
                        <a:t>Basic optimizer with momentum</a:t>
                      </a:r>
                    </a:p>
                  </a:txBody>
                  <a:tcPr marL="66944" marR="66944" marT="33472" marB="33472" anchor="ctr">
                    <a:lnL>
                      <a:noFill/>
                    </a:lnL>
                    <a:lnR>
                      <a:noFill/>
                    </a:lnR>
                    <a:lnT>
                      <a:noFill/>
                    </a:lnT>
                    <a:lnB>
                      <a:noFill/>
                    </a:lnB>
                    <a:noFill/>
                  </a:tcPr>
                </a:tc>
                <a:tc>
                  <a:txBody>
                    <a:bodyPr/>
                    <a:lstStyle/>
                    <a:p>
                      <a:r>
                        <a:rPr lang="en-GB" sz="1300" dirty="0"/>
                        <a:t>More stable generalization; less aggressive than Adam</a:t>
                      </a:r>
                    </a:p>
                  </a:txBody>
                  <a:tcPr marL="66944" marR="66944" marT="33472" marB="33472" anchor="ctr">
                    <a:lnL>
                      <a:noFill/>
                    </a:lnL>
                    <a:lnR>
                      <a:noFill/>
                    </a:lnR>
                    <a:lnT>
                      <a:noFill/>
                    </a:lnT>
                    <a:lnB>
                      <a:noFill/>
                    </a:lnB>
                    <a:noFill/>
                  </a:tcPr>
                </a:tc>
                <a:tc>
                  <a:txBody>
                    <a:bodyPr/>
                    <a:lstStyle/>
                    <a:p>
                      <a:r>
                        <a:rPr lang="en-GB" sz="1300" dirty="0"/>
                        <a:t>Try when Adam overfits or diverges</a:t>
                      </a:r>
                    </a:p>
                  </a:txBody>
                  <a:tcPr marL="66944" marR="66944" marT="33472" marB="33472" anchor="ctr">
                    <a:lnL>
                      <a:noFill/>
                    </a:lnL>
                    <a:lnR>
                      <a:noFill/>
                    </a:lnR>
                    <a:lnT>
                      <a:noFill/>
                    </a:lnT>
                    <a:lnB>
                      <a:noFill/>
                    </a:lnB>
                    <a:noFill/>
                  </a:tcPr>
                </a:tc>
                <a:extLst>
                  <a:ext uri="{0D108BD9-81ED-4DB2-BD59-A6C34878D82A}">
                    <a16:rowId xmlns:a16="http://schemas.microsoft.com/office/drawing/2014/main" val="341482397"/>
                  </a:ext>
                </a:extLst>
              </a:tr>
            </a:tbl>
          </a:graphicData>
        </a:graphic>
      </p:graphicFrame>
    </p:spTree>
    <p:extLst>
      <p:ext uri="{BB962C8B-B14F-4D97-AF65-F5344CB8AC3E}">
        <p14:creationId xmlns:p14="http://schemas.microsoft.com/office/powerpoint/2010/main" val="39655115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5CD9A-A63C-A65F-F26F-207F68A8BEDC}"/>
              </a:ext>
            </a:extLst>
          </p:cNvPr>
          <p:cNvSpPr>
            <a:spLocks noGrp="1"/>
          </p:cNvSpPr>
          <p:nvPr>
            <p:ph type="title"/>
          </p:nvPr>
        </p:nvSpPr>
        <p:spPr/>
        <p:txBody>
          <a:bodyPr/>
          <a:lstStyle/>
          <a:p>
            <a:r>
              <a:rPr lang="en-GB" i="0" dirty="0">
                <a:solidFill>
                  <a:srgbClr val="231F20"/>
                </a:solidFill>
                <a:effectLst/>
                <a:latin typeface="LatoWeb"/>
              </a:rPr>
              <a:t>Ablation Study – optimizer </a:t>
            </a:r>
            <a:endParaRPr lang="en-GB" dirty="0"/>
          </a:p>
        </p:txBody>
      </p:sp>
      <p:pic>
        <p:nvPicPr>
          <p:cNvPr id="9" name="Content Placeholder 8" descr="A black and white image of a key&#10;&#10;AI-generated content may be incorrect.">
            <a:extLst>
              <a:ext uri="{FF2B5EF4-FFF2-40B4-BE49-F238E27FC236}">
                <a16:creationId xmlns:a16="http://schemas.microsoft.com/office/drawing/2014/main" id="{A2FAC247-D050-5C3E-8481-03FDE8FC7B6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1152" y="3812403"/>
            <a:ext cx="1828800" cy="1828800"/>
          </a:xfrm>
        </p:spPr>
      </p:pic>
      <p:pic>
        <p:nvPicPr>
          <p:cNvPr id="11" name="Picture 10" descr="A graph of a graph&#10;&#10;AI-generated content may be incorrect.">
            <a:extLst>
              <a:ext uri="{FF2B5EF4-FFF2-40B4-BE49-F238E27FC236}">
                <a16:creationId xmlns:a16="http://schemas.microsoft.com/office/drawing/2014/main" id="{FA855A07-D2F3-180F-225D-E268748F28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5090" y="1690688"/>
            <a:ext cx="2438400" cy="1828800"/>
          </a:xfrm>
          <a:prstGeom prst="rect">
            <a:avLst/>
          </a:prstGeom>
        </p:spPr>
      </p:pic>
      <p:sp>
        <p:nvSpPr>
          <p:cNvPr id="12" name="TextBox 11">
            <a:extLst>
              <a:ext uri="{FF2B5EF4-FFF2-40B4-BE49-F238E27FC236}">
                <a16:creationId xmlns:a16="http://schemas.microsoft.com/office/drawing/2014/main" id="{540D9E92-8A9D-3454-7D6C-3699BB228FD8}"/>
              </a:ext>
            </a:extLst>
          </p:cNvPr>
          <p:cNvSpPr txBox="1"/>
          <p:nvPr/>
        </p:nvSpPr>
        <p:spPr>
          <a:xfrm>
            <a:off x="1049628" y="6027313"/>
            <a:ext cx="869324" cy="369332"/>
          </a:xfrm>
          <a:prstGeom prst="rect">
            <a:avLst/>
          </a:prstGeom>
          <a:noFill/>
        </p:spPr>
        <p:txBody>
          <a:bodyPr wrap="square" rtlCol="0">
            <a:spAutoFit/>
          </a:bodyPr>
          <a:lstStyle/>
          <a:p>
            <a:r>
              <a:rPr lang="en-US" dirty="0"/>
              <a:t>SGD</a:t>
            </a:r>
            <a:endParaRPr lang="en-GB" dirty="0"/>
          </a:p>
        </p:txBody>
      </p:sp>
      <p:sp>
        <p:nvSpPr>
          <p:cNvPr id="14" name="TextBox 13">
            <a:extLst>
              <a:ext uri="{FF2B5EF4-FFF2-40B4-BE49-F238E27FC236}">
                <a16:creationId xmlns:a16="http://schemas.microsoft.com/office/drawing/2014/main" id="{BAA7F499-A7AA-10E4-EC64-0FAA4C203871}"/>
              </a:ext>
            </a:extLst>
          </p:cNvPr>
          <p:cNvSpPr txBox="1"/>
          <p:nvPr/>
        </p:nvSpPr>
        <p:spPr>
          <a:xfrm>
            <a:off x="4052016" y="6000463"/>
            <a:ext cx="1112412" cy="369332"/>
          </a:xfrm>
          <a:prstGeom prst="rect">
            <a:avLst/>
          </a:prstGeom>
          <a:noFill/>
        </p:spPr>
        <p:txBody>
          <a:bodyPr wrap="square">
            <a:spAutoFit/>
          </a:bodyPr>
          <a:lstStyle/>
          <a:p>
            <a:r>
              <a:rPr lang="en-US" dirty="0" err="1"/>
              <a:t>AdamW</a:t>
            </a:r>
            <a:endParaRPr lang="en-GB" dirty="0"/>
          </a:p>
        </p:txBody>
      </p:sp>
      <p:pic>
        <p:nvPicPr>
          <p:cNvPr id="16" name="Picture 15" descr="A graph with blue dots&#10;&#10;AI-generated content may be incorrect.">
            <a:extLst>
              <a:ext uri="{FF2B5EF4-FFF2-40B4-BE49-F238E27FC236}">
                <a16:creationId xmlns:a16="http://schemas.microsoft.com/office/drawing/2014/main" id="{53BE3060-514A-63B4-C7A2-C33AA081EF8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06222" y="1690688"/>
            <a:ext cx="2438400" cy="1828800"/>
          </a:xfrm>
          <a:prstGeom prst="rect">
            <a:avLst/>
          </a:prstGeom>
        </p:spPr>
      </p:pic>
      <p:pic>
        <p:nvPicPr>
          <p:cNvPr id="18" name="Picture 17" descr="A black and white image of a pipe&#10;&#10;AI-generated content may be incorrect.">
            <a:extLst>
              <a:ext uri="{FF2B5EF4-FFF2-40B4-BE49-F238E27FC236}">
                <a16:creationId xmlns:a16="http://schemas.microsoft.com/office/drawing/2014/main" id="{90C227D0-8493-C10E-9947-C559ABF0474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08230" y="3812403"/>
            <a:ext cx="1828800" cy="1828800"/>
          </a:xfrm>
          <a:prstGeom prst="rect">
            <a:avLst/>
          </a:prstGeom>
        </p:spPr>
      </p:pic>
      <p:sp>
        <p:nvSpPr>
          <p:cNvPr id="19" name="TextBox 18">
            <a:extLst>
              <a:ext uri="{FF2B5EF4-FFF2-40B4-BE49-F238E27FC236}">
                <a16:creationId xmlns:a16="http://schemas.microsoft.com/office/drawing/2014/main" id="{15D18714-82AD-D28E-B319-2BAD857A3410}"/>
              </a:ext>
            </a:extLst>
          </p:cNvPr>
          <p:cNvSpPr txBox="1"/>
          <p:nvPr/>
        </p:nvSpPr>
        <p:spPr>
          <a:xfrm>
            <a:off x="7396765" y="5994024"/>
            <a:ext cx="1669962" cy="646331"/>
          </a:xfrm>
          <a:prstGeom prst="rect">
            <a:avLst/>
          </a:prstGeom>
          <a:noFill/>
        </p:spPr>
        <p:txBody>
          <a:bodyPr wrap="square" rtlCol="0">
            <a:spAutoFit/>
          </a:bodyPr>
          <a:lstStyle/>
          <a:p>
            <a:r>
              <a:rPr lang="en-GB" sz="1800" dirty="0"/>
              <a:t>RMSprop</a:t>
            </a:r>
          </a:p>
          <a:p>
            <a:endParaRPr lang="en-GB" dirty="0"/>
          </a:p>
        </p:txBody>
      </p:sp>
      <p:pic>
        <p:nvPicPr>
          <p:cNvPr id="21" name="Picture 20" descr="A graph with blue dots&#10;&#10;AI-generated content may be incorrect.">
            <a:extLst>
              <a:ext uri="{FF2B5EF4-FFF2-40B4-BE49-F238E27FC236}">
                <a16:creationId xmlns:a16="http://schemas.microsoft.com/office/drawing/2014/main" id="{60369450-E1A4-BD3B-490C-F2FB879194D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720411" y="1672412"/>
            <a:ext cx="2438400" cy="1828800"/>
          </a:xfrm>
          <a:prstGeom prst="rect">
            <a:avLst/>
          </a:prstGeom>
        </p:spPr>
      </p:pic>
      <p:pic>
        <p:nvPicPr>
          <p:cNvPr id="23" name="Picture 22" descr="A black background with white lines&#10;&#10;AI-generated content may be incorrect.">
            <a:extLst>
              <a:ext uri="{FF2B5EF4-FFF2-40B4-BE49-F238E27FC236}">
                <a16:creationId xmlns:a16="http://schemas.microsoft.com/office/drawing/2014/main" id="{CF12CC85-918C-60CD-4109-EBE221441D5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025211" y="3774023"/>
            <a:ext cx="1828800" cy="1828800"/>
          </a:xfrm>
          <a:prstGeom prst="rect">
            <a:avLst/>
          </a:prstGeom>
        </p:spPr>
      </p:pic>
      <p:pic>
        <p:nvPicPr>
          <p:cNvPr id="25" name="Picture 24" descr="A white silhouette of a key&#10;&#10;AI-generated content may be incorrect.">
            <a:extLst>
              <a:ext uri="{FF2B5EF4-FFF2-40B4-BE49-F238E27FC236}">
                <a16:creationId xmlns:a16="http://schemas.microsoft.com/office/drawing/2014/main" id="{11A80E23-E698-645D-7814-FB8C7504298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851049" y="3812403"/>
            <a:ext cx="1828800" cy="1828800"/>
          </a:xfrm>
          <a:prstGeom prst="rect">
            <a:avLst/>
          </a:prstGeom>
        </p:spPr>
      </p:pic>
      <p:pic>
        <p:nvPicPr>
          <p:cNvPr id="27" name="Picture 26" descr="A graph with a line&#10;&#10;AI-generated content may be incorrect.">
            <a:extLst>
              <a:ext uri="{FF2B5EF4-FFF2-40B4-BE49-F238E27FC236}">
                <a16:creationId xmlns:a16="http://schemas.microsoft.com/office/drawing/2014/main" id="{315B253A-42D6-0AEE-4E3A-A2A0320667E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546249" y="1690688"/>
            <a:ext cx="2438400" cy="1828800"/>
          </a:xfrm>
          <a:prstGeom prst="rect">
            <a:avLst/>
          </a:prstGeom>
        </p:spPr>
      </p:pic>
      <p:sp>
        <p:nvSpPr>
          <p:cNvPr id="29" name="TextBox 28">
            <a:extLst>
              <a:ext uri="{FF2B5EF4-FFF2-40B4-BE49-F238E27FC236}">
                <a16:creationId xmlns:a16="http://schemas.microsoft.com/office/drawing/2014/main" id="{E252BB80-ED91-5C04-CEA7-7A32DAADD2D1}"/>
              </a:ext>
            </a:extLst>
          </p:cNvPr>
          <p:cNvSpPr txBox="1"/>
          <p:nvPr/>
        </p:nvSpPr>
        <p:spPr>
          <a:xfrm>
            <a:off x="10291830" y="5934118"/>
            <a:ext cx="1061970" cy="369332"/>
          </a:xfrm>
          <a:prstGeom prst="rect">
            <a:avLst/>
          </a:prstGeom>
          <a:noFill/>
        </p:spPr>
        <p:txBody>
          <a:bodyPr wrap="square">
            <a:spAutoFit/>
          </a:bodyPr>
          <a:lstStyle/>
          <a:p>
            <a:r>
              <a:rPr lang="en-GB" sz="1800" dirty="0" err="1"/>
              <a:t>Adagrad</a:t>
            </a:r>
            <a:endParaRPr lang="en-GB" sz="1800" dirty="0"/>
          </a:p>
        </p:txBody>
      </p:sp>
      <p:pic>
        <p:nvPicPr>
          <p:cNvPr id="30" name="Picture 29" descr="A white silhouette of a plane&#10;&#10;AI-generated content may be incorrect.">
            <a:extLst>
              <a:ext uri="{FF2B5EF4-FFF2-40B4-BE49-F238E27FC236}">
                <a16:creationId xmlns:a16="http://schemas.microsoft.com/office/drawing/2014/main" id="{C8721B94-F0AE-7E47-8666-C31E642C17D5}"/>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762223" y="0"/>
            <a:ext cx="1589468" cy="1589468"/>
          </a:xfrm>
          <a:prstGeom prst="rect">
            <a:avLst/>
          </a:prstGeom>
        </p:spPr>
      </p:pic>
      <p:pic>
        <p:nvPicPr>
          <p:cNvPr id="31" name="Picture 30" descr="A map of a runway&#10;&#10;AI-generated content may be incorrect.">
            <a:extLst>
              <a:ext uri="{FF2B5EF4-FFF2-40B4-BE49-F238E27FC236}">
                <a16:creationId xmlns:a16="http://schemas.microsoft.com/office/drawing/2014/main" id="{1572AFE2-35B6-D249-5029-193E6734461F}"/>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0602532" y="0"/>
            <a:ext cx="1589468" cy="1589468"/>
          </a:xfrm>
          <a:prstGeom prst="rect">
            <a:avLst/>
          </a:prstGeom>
        </p:spPr>
      </p:pic>
    </p:spTree>
    <p:extLst>
      <p:ext uri="{BB962C8B-B14F-4D97-AF65-F5344CB8AC3E}">
        <p14:creationId xmlns:p14="http://schemas.microsoft.com/office/powerpoint/2010/main" val="5421501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5DB9E-51BD-3C55-90BE-90FDD8B77FDA}"/>
              </a:ext>
            </a:extLst>
          </p:cNvPr>
          <p:cNvSpPr>
            <a:spLocks noGrp="1"/>
          </p:cNvSpPr>
          <p:nvPr>
            <p:ph type="title"/>
          </p:nvPr>
        </p:nvSpPr>
        <p:spPr/>
        <p:txBody>
          <a:bodyPr/>
          <a:lstStyle/>
          <a:p>
            <a:r>
              <a:rPr lang="en-GB" i="0" dirty="0">
                <a:solidFill>
                  <a:srgbClr val="231F20"/>
                </a:solidFill>
                <a:effectLst/>
                <a:latin typeface="LatoWeb"/>
              </a:rPr>
              <a:t>Ablation Study – optimizer </a:t>
            </a:r>
            <a:endParaRPr lang="en-GB" dirty="0"/>
          </a:p>
        </p:txBody>
      </p:sp>
      <p:sp>
        <p:nvSpPr>
          <p:cNvPr id="3" name="Content Placeholder 2">
            <a:extLst>
              <a:ext uri="{FF2B5EF4-FFF2-40B4-BE49-F238E27FC236}">
                <a16:creationId xmlns:a16="http://schemas.microsoft.com/office/drawing/2014/main" id="{4E3226EE-B029-103C-37D0-AD91AA41FE59}"/>
              </a:ext>
            </a:extLst>
          </p:cNvPr>
          <p:cNvSpPr>
            <a:spLocks noGrp="1"/>
          </p:cNvSpPr>
          <p:nvPr>
            <p:ph idx="1"/>
          </p:nvPr>
        </p:nvSpPr>
        <p:spPr/>
        <p:txBody>
          <a:bodyPr/>
          <a:lstStyle/>
          <a:p>
            <a:r>
              <a:rPr lang="en-GB" dirty="0"/>
              <a:t>Prediction performance</a:t>
            </a:r>
          </a:p>
          <a:p>
            <a:pPr lvl="1"/>
            <a:r>
              <a:rPr lang="en-GB" dirty="0" err="1"/>
              <a:t>AdamW</a:t>
            </a:r>
            <a:r>
              <a:rPr lang="en-GB" dirty="0"/>
              <a:t> has the closet form of prediction</a:t>
            </a:r>
          </a:p>
          <a:p>
            <a:pPr lvl="1"/>
            <a:endParaRPr lang="en-GB" dirty="0"/>
          </a:p>
          <a:p>
            <a:r>
              <a:rPr lang="en-GB" dirty="0"/>
              <a:t>Convergence </a:t>
            </a:r>
          </a:p>
          <a:p>
            <a:pPr lvl="1"/>
            <a:r>
              <a:rPr lang="en-GB" dirty="0"/>
              <a:t>All except SGD converged more rapidly</a:t>
            </a:r>
          </a:p>
          <a:p>
            <a:pPr lvl="1"/>
            <a:endParaRPr lang="en-GB" dirty="0"/>
          </a:p>
          <a:p>
            <a:r>
              <a:rPr lang="en-GB" dirty="0"/>
              <a:t>Need larger size of data too see the real difference </a:t>
            </a:r>
          </a:p>
          <a:p>
            <a:pPr lvl="1"/>
            <a:r>
              <a:rPr lang="en-GB" dirty="0"/>
              <a:t>Limited by computing power</a:t>
            </a:r>
          </a:p>
        </p:txBody>
      </p:sp>
    </p:spTree>
    <p:extLst>
      <p:ext uri="{BB962C8B-B14F-4D97-AF65-F5344CB8AC3E}">
        <p14:creationId xmlns:p14="http://schemas.microsoft.com/office/powerpoint/2010/main" val="42509139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112EF-E72E-98A4-47EA-C16D292FE836}"/>
              </a:ext>
            </a:extLst>
          </p:cNvPr>
          <p:cNvSpPr>
            <a:spLocks noGrp="1"/>
          </p:cNvSpPr>
          <p:nvPr>
            <p:ph type="title"/>
          </p:nvPr>
        </p:nvSpPr>
        <p:spPr/>
        <p:txBody>
          <a:bodyPr/>
          <a:lstStyle/>
          <a:p>
            <a:r>
              <a:rPr lang="en-GB" dirty="0"/>
              <a:t>Conclusion </a:t>
            </a:r>
          </a:p>
        </p:txBody>
      </p:sp>
      <p:sp>
        <p:nvSpPr>
          <p:cNvPr id="3" name="Content Placeholder 2">
            <a:extLst>
              <a:ext uri="{FF2B5EF4-FFF2-40B4-BE49-F238E27FC236}">
                <a16:creationId xmlns:a16="http://schemas.microsoft.com/office/drawing/2014/main" id="{34BAD294-1972-BF52-BC7F-1DD58E00BA9B}"/>
              </a:ext>
            </a:extLst>
          </p:cNvPr>
          <p:cNvSpPr>
            <a:spLocks noGrp="1"/>
          </p:cNvSpPr>
          <p:nvPr>
            <p:ph idx="1"/>
          </p:nvPr>
        </p:nvSpPr>
        <p:spPr/>
        <p:txBody>
          <a:bodyPr/>
          <a:lstStyle/>
          <a:p>
            <a:r>
              <a:rPr lang="en-GB" dirty="0"/>
              <a:t>Successfully implemented a deep learning pipeline to skeletonize road networks from noisy thick OSM-derived images</a:t>
            </a:r>
          </a:p>
          <a:p>
            <a:endParaRPr lang="en-GB" dirty="0"/>
          </a:p>
          <a:p>
            <a:r>
              <a:rPr lang="en-GB" dirty="0"/>
              <a:t>Bassline U-net performed well except for wider roads</a:t>
            </a:r>
          </a:p>
          <a:p>
            <a:endParaRPr lang="en-GB" dirty="0"/>
          </a:p>
          <a:p>
            <a:r>
              <a:rPr lang="en-GB" dirty="0"/>
              <a:t>Iterative U-net variant introduced to thinning wider roads</a:t>
            </a:r>
          </a:p>
          <a:p>
            <a:endParaRPr lang="en-GB" dirty="0"/>
          </a:p>
          <a:p>
            <a:r>
              <a:rPr lang="en-GB" dirty="0"/>
              <a:t>Evaluation using </a:t>
            </a:r>
            <a:r>
              <a:rPr lang="en-GB" dirty="0" err="1"/>
              <a:t>BCEloss</a:t>
            </a:r>
            <a:r>
              <a:rPr lang="en-GB" dirty="0"/>
              <a:t>, node precision/recall, and visual inspection confirming meaningful structure predilection</a:t>
            </a:r>
          </a:p>
        </p:txBody>
      </p:sp>
    </p:spTree>
    <p:extLst>
      <p:ext uri="{BB962C8B-B14F-4D97-AF65-F5344CB8AC3E}">
        <p14:creationId xmlns:p14="http://schemas.microsoft.com/office/powerpoint/2010/main" val="34921627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1083</TotalTime>
  <Words>1351</Words>
  <Application>Microsoft Office PowerPoint</Application>
  <PresentationFormat>Widescreen</PresentationFormat>
  <Paragraphs>307</Paragraphs>
  <Slides>39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LatoWeb</vt:lpstr>
      <vt:lpstr>Aptos</vt:lpstr>
      <vt:lpstr>Aptos Display</vt:lpstr>
      <vt:lpstr>Arial</vt:lpstr>
      <vt:lpstr>Cambria Math</vt:lpstr>
      <vt:lpstr>Office Theme</vt:lpstr>
      <vt:lpstr>CSE627 Project</vt:lpstr>
      <vt:lpstr>Final Result</vt:lpstr>
      <vt:lpstr>Final Qualitative Results                               #0, 12, 24, 36</vt:lpstr>
      <vt:lpstr>Final Qualitative Results</vt:lpstr>
      <vt:lpstr>Training Loss </vt:lpstr>
      <vt:lpstr>Node Precision and Recall</vt:lpstr>
      <vt:lpstr>Experimental Set Up</vt:lpstr>
      <vt:lpstr>Data Generation</vt:lpstr>
      <vt:lpstr>Data Generation – generate noise</vt:lpstr>
      <vt:lpstr>Model Architecture – base U-net</vt:lpstr>
      <vt:lpstr>Model Architecture – base U-net</vt:lpstr>
      <vt:lpstr>Model Architecture – base U-net</vt:lpstr>
      <vt:lpstr>Model Architecture – base U-net</vt:lpstr>
      <vt:lpstr>Initial Training Set-up</vt:lpstr>
      <vt:lpstr>Training Set-up – QOL parameters</vt:lpstr>
      <vt:lpstr>Baseline Result - Qualitative Results</vt:lpstr>
      <vt:lpstr>Baseline Result - Quantitative Results</vt:lpstr>
      <vt:lpstr>Baseline Result - Quantitative Results</vt:lpstr>
      <vt:lpstr>Reasoning – Poor performance </vt:lpstr>
      <vt:lpstr>Design iterations – Baseline  →  〖"Baseline" 〗^+ </vt:lpstr>
      <vt:lpstr>Implementation of BCELoss</vt:lpstr>
      <vt:lpstr>〖"Baseline" 〗^+ Result - Qualitative Results</vt:lpstr>
      <vt:lpstr>〖"Baseline" 〗^+ Result - Quantitative Results</vt:lpstr>
      <vt:lpstr>〖"Baseline" 〗^+ Result - Quantitative Results</vt:lpstr>
      <vt:lpstr>Reasoning – Poor performance on thicker roads</vt:lpstr>
      <vt:lpstr>Design iterations</vt:lpstr>
      <vt:lpstr>Implementation of iterative method </vt:lpstr>
      <vt:lpstr>Implementation of iterative method </vt:lpstr>
      <vt:lpstr>Iteration Method - Result</vt:lpstr>
      <vt:lpstr>Reasoning - Poor performance on wider roads </vt:lpstr>
      <vt:lpstr>Design iterations – Iteration  →  〖"Iteration" 〗^+</vt:lpstr>
      <vt:lpstr>〖"Iteration" 〗^+ Result</vt:lpstr>
      <vt:lpstr>Ablation Study</vt:lpstr>
      <vt:lpstr>Ablation Study – Learning rate</vt:lpstr>
      <vt:lpstr>Ablation Study – Learning rate</vt:lpstr>
      <vt:lpstr>Ablation Study – optimizer </vt:lpstr>
      <vt:lpstr>Ablation Study – optimizer </vt:lpstr>
      <vt:lpstr>Ablation Study – optimizer </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Zehua Liu</dc:creator>
  <cp:lastModifiedBy>Zehua Liu</cp:lastModifiedBy>
  <cp:revision>29</cp:revision>
  <dcterms:created xsi:type="dcterms:W3CDTF">2025-04-29T23:23:55Z</dcterms:created>
  <dcterms:modified xsi:type="dcterms:W3CDTF">2025-05-02T01:03:37Z</dcterms:modified>
</cp:coreProperties>
</file>